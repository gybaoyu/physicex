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6"/>
  </p:notesMasterIdLst>
  <p:sldIdLst>
    <p:sldId id="390" r:id="rId3"/>
    <p:sldId id="392" r:id="rId4"/>
    <p:sldId id="262" r:id="rId5"/>
    <p:sldId id="399" r:id="rId6"/>
    <p:sldId id="400" r:id="rId7"/>
    <p:sldId id="401" r:id="rId8"/>
    <p:sldId id="410" r:id="rId9"/>
    <p:sldId id="416" r:id="rId10"/>
    <p:sldId id="402" r:id="rId11"/>
    <p:sldId id="409" r:id="rId12"/>
    <p:sldId id="403" r:id="rId13"/>
    <p:sldId id="404" r:id="rId14"/>
    <p:sldId id="405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>
          <p15:clr>
            <a:srgbClr val="A4A3A4"/>
          </p15:clr>
        </p15:guide>
        <p15:guide id="2" pos="29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FF3300"/>
    <a:srgbClr val="99CCFF"/>
    <a:srgbClr val="EAEAEA"/>
    <a:srgbClr val="969696"/>
    <a:srgbClr val="0000FF"/>
    <a:srgbClr val="3366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1"/>
    <p:restoredTop sz="96699"/>
  </p:normalViewPr>
  <p:slideViewPr>
    <p:cSldViewPr snapToObjects="1" showGuides="1">
      <p:cViewPr varScale="1">
        <p:scale>
          <a:sx n="88" d="100"/>
          <a:sy n="88" d="100"/>
        </p:scale>
        <p:origin x="1704" y="96"/>
      </p:cViewPr>
      <p:guideLst>
        <p:guide orient="horz" pos="2175"/>
        <p:guide pos="29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e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21.wmf"/><Relationship Id="rId3" Type="http://schemas.openxmlformats.org/officeDocument/2006/relationships/image" Target="../media/image11.emf"/><Relationship Id="rId7" Type="http://schemas.openxmlformats.org/officeDocument/2006/relationships/image" Target="../media/image15.wmf"/><Relationship Id="rId12" Type="http://schemas.openxmlformats.org/officeDocument/2006/relationships/image" Target="../media/image20.wmf"/><Relationship Id="rId17" Type="http://schemas.openxmlformats.org/officeDocument/2006/relationships/image" Target="../media/image25.wmf"/><Relationship Id="rId2" Type="http://schemas.openxmlformats.org/officeDocument/2006/relationships/image" Target="../media/image10.wmf"/><Relationship Id="rId16" Type="http://schemas.openxmlformats.org/officeDocument/2006/relationships/image" Target="../media/image24.emf"/><Relationship Id="rId1" Type="http://schemas.openxmlformats.org/officeDocument/2006/relationships/image" Target="../media/image9.wmf"/><Relationship Id="rId6" Type="http://schemas.openxmlformats.org/officeDocument/2006/relationships/image" Target="../media/image14.emf"/><Relationship Id="rId11" Type="http://schemas.openxmlformats.org/officeDocument/2006/relationships/image" Target="../media/image19.w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10" Type="http://schemas.openxmlformats.org/officeDocument/2006/relationships/image" Target="../media/image18.wmf"/><Relationship Id="rId4" Type="http://schemas.openxmlformats.org/officeDocument/2006/relationships/image" Target="../media/image12.emf"/><Relationship Id="rId9" Type="http://schemas.openxmlformats.org/officeDocument/2006/relationships/image" Target="../media/image17.wmf"/><Relationship Id="rId14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20.wmf"/><Relationship Id="rId18" Type="http://schemas.openxmlformats.org/officeDocument/2006/relationships/image" Target="../media/image25.wmf"/><Relationship Id="rId3" Type="http://schemas.openxmlformats.org/officeDocument/2006/relationships/image" Target="../media/image10.wmf"/><Relationship Id="rId7" Type="http://schemas.openxmlformats.org/officeDocument/2006/relationships/image" Target="../media/image36.emf"/><Relationship Id="rId12" Type="http://schemas.openxmlformats.org/officeDocument/2006/relationships/image" Target="../media/image19.wmf"/><Relationship Id="rId17" Type="http://schemas.openxmlformats.org/officeDocument/2006/relationships/image" Target="../media/image38.emf"/><Relationship Id="rId2" Type="http://schemas.openxmlformats.org/officeDocument/2006/relationships/image" Target="../media/image9.wmf"/><Relationship Id="rId16" Type="http://schemas.openxmlformats.org/officeDocument/2006/relationships/image" Target="../media/image37.emf"/><Relationship Id="rId1" Type="http://schemas.openxmlformats.org/officeDocument/2006/relationships/image" Target="../media/image32.wmf"/><Relationship Id="rId6" Type="http://schemas.openxmlformats.org/officeDocument/2006/relationships/image" Target="../media/image35.emf"/><Relationship Id="rId11" Type="http://schemas.openxmlformats.org/officeDocument/2006/relationships/image" Target="../media/image18.wmf"/><Relationship Id="rId5" Type="http://schemas.openxmlformats.org/officeDocument/2006/relationships/image" Target="../media/image34.emf"/><Relationship Id="rId15" Type="http://schemas.openxmlformats.org/officeDocument/2006/relationships/image" Target="../media/image22.wmf"/><Relationship Id="rId10" Type="http://schemas.openxmlformats.org/officeDocument/2006/relationships/image" Target="../media/image17.wmf"/><Relationship Id="rId4" Type="http://schemas.openxmlformats.org/officeDocument/2006/relationships/image" Target="../media/image33.emf"/><Relationship Id="rId9" Type="http://schemas.openxmlformats.org/officeDocument/2006/relationships/image" Target="../media/image16.wmf"/><Relationship Id="rId14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61AA33-D87D-4660-8D5D-E15B69D497A1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2024/3/18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CF9323-B3D3-444C-AEF9-C0C17C192C68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3820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GB" altLang="zh-CN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fld>
            <a:endParaRPr lang="zh-CN" altLang="en-US" sz="1200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7298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GB" altLang="zh-CN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ea typeface="宋体" panose="02010600030101010101" pitchFamily="2" charset="-122"/>
              </a:rPr>
              <a:t>7</a:t>
            </a:fld>
            <a:endParaRPr lang="zh-CN" altLang="en-US" sz="1200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2778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GB" altLang="zh-CN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ea typeface="宋体" panose="02010600030101010101" pitchFamily="2" charset="-122"/>
              </a:rPr>
              <a:t>8</a:t>
            </a:fld>
            <a:endParaRPr lang="zh-CN" altLang="en-US" sz="1200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260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037ECE-1130-4A9C-A6D7-4F8B4040B7CB}" type="datetimeFigureOut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2024/3/18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8766F2-438F-48D8-8B6C-E06D09EC9951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‹#›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/>
          <a:p>
            <a:pPr lvl="0" eaLnBrk="1" hangingPunct="1"/>
            <a:fld id="{9A0DB2DC-4C9A-4742-B13C-FB6460FD3503}" type="slidenum">
              <a:rPr lang="en-US" altLang="en-US" dirty="0">
                <a:latin typeface="Verdana" panose="020B0604030504040204" pitchFamily="34" charset="0"/>
              </a:rPr>
              <a:t>‹#›</a:t>
            </a:fld>
            <a:endParaRPr lang="en-US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037ECE-1130-4A9C-A6D7-4F8B4040B7CB}" type="datetimeFigureOut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2024/3/18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8766F2-438F-48D8-8B6C-E06D09EC9951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‹#›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/>
          <a:p>
            <a:pPr lvl="0" eaLnBrk="1" hangingPunct="1"/>
            <a:fld id="{9A0DB2DC-4C9A-4742-B13C-FB6460FD3503}" type="slidenum">
              <a:rPr lang="en-US" altLang="en-US" dirty="0">
                <a:latin typeface="Verdana" panose="020B0604030504040204" pitchFamily="34" charset="0"/>
              </a:rPr>
              <a:t>‹#›</a:t>
            </a:fld>
            <a:endParaRPr lang="en-US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7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/>
            <p:nvPr/>
          </p:nvSpPr>
          <p:spPr>
            <a:xfrm>
              <a:off x="3647" y="3923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Line 27"/>
            <p:cNvSpPr/>
            <p:nvPr/>
          </p:nvSpPr>
          <p:spPr>
            <a:xfrm>
              <a:off x="4558" y="3896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pic>
        <p:nvPicPr>
          <p:cNvPr id="1031" name="Picture 37" descr="bj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7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/>
            <p:nvPr/>
          </p:nvSpPr>
          <p:spPr>
            <a:xfrm>
              <a:off x="3647" y="3923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Line 27"/>
            <p:cNvSpPr/>
            <p:nvPr/>
          </p:nvSpPr>
          <p:spPr>
            <a:xfrm>
              <a:off x="4558" y="3896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pic>
        <p:nvPicPr>
          <p:cNvPr id="1031" name="Picture 37" descr="bj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6.wmf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34" Type="http://schemas.openxmlformats.org/officeDocument/2006/relationships/image" Target="../media/image24.e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33" Type="http://schemas.openxmlformats.org/officeDocument/2006/relationships/oleObject" Target="../embeddings/oleObject2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29" Type="http://schemas.openxmlformats.org/officeDocument/2006/relationships/oleObject" Target="../embeddings/oleObject22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19.wmf"/><Relationship Id="rId32" Type="http://schemas.openxmlformats.org/officeDocument/2006/relationships/image" Target="../media/image23.e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28" Type="http://schemas.openxmlformats.org/officeDocument/2006/relationships/image" Target="../media/image21.wmf"/><Relationship Id="rId36" Type="http://schemas.openxmlformats.org/officeDocument/2006/relationships/image" Target="../media/image25.wmf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17.bin"/><Relationship Id="rId31" Type="http://schemas.openxmlformats.org/officeDocument/2006/relationships/oleObject" Target="../embeddings/oleObject23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4.emf"/><Relationship Id="rId22" Type="http://schemas.openxmlformats.org/officeDocument/2006/relationships/image" Target="../media/image18.wmf"/><Relationship Id="rId27" Type="http://schemas.openxmlformats.org/officeDocument/2006/relationships/oleObject" Target="../embeddings/oleObject21.bin"/><Relationship Id="rId30" Type="http://schemas.openxmlformats.org/officeDocument/2006/relationships/image" Target="../media/image22.wmf"/><Relationship Id="rId35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15.wmf"/><Relationship Id="rId26" Type="http://schemas.openxmlformats.org/officeDocument/2006/relationships/image" Target="../media/image19.wmf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8.bin"/><Relationship Id="rId34" Type="http://schemas.openxmlformats.org/officeDocument/2006/relationships/image" Target="../media/image37.emf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36.bin"/><Relationship Id="rId25" Type="http://schemas.openxmlformats.org/officeDocument/2006/relationships/oleObject" Target="../embeddings/oleObject40.bin"/><Relationship Id="rId33" Type="http://schemas.openxmlformats.org/officeDocument/2006/relationships/oleObject" Target="../embeddings/oleObject44.bin"/><Relationship Id="rId38" Type="http://schemas.openxmlformats.org/officeDocument/2006/relationships/image" Target="../media/image25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6.emf"/><Relationship Id="rId20" Type="http://schemas.openxmlformats.org/officeDocument/2006/relationships/image" Target="../media/image16.wmf"/><Relationship Id="rId29" Type="http://schemas.openxmlformats.org/officeDocument/2006/relationships/oleObject" Target="../embeddings/oleObject42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18.wmf"/><Relationship Id="rId32" Type="http://schemas.openxmlformats.org/officeDocument/2006/relationships/image" Target="../media/image22.wmf"/><Relationship Id="rId37" Type="http://schemas.openxmlformats.org/officeDocument/2006/relationships/oleObject" Target="../embeddings/oleObject46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28" Type="http://schemas.openxmlformats.org/officeDocument/2006/relationships/image" Target="../media/image20.wmf"/><Relationship Id="rId36" Type="http://schemas.openxmlformats.org/officeDocument/2006/relationships/image" Target="../media/image38.emf"/><Relationship Id="rId10" Type="http://schemas.openxmlformats.org/officeDocument/2006/relationships/image" Target="../media/image33.emf"/><Relationship Id="rId19" Type="http://schemas.openxmlformats.org/officeDocument/2006/relationships/oleObject" Target="../embeddings/oleObject37.bin"/><Relationship Id="rId31" Type="http://schemas.openxmlformats.org/officeDocument/2006/relationships/oleObject" Target="../embeddings/oleObject43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5.emf"/><Relationship Id="rId22" Type="http://schemas.openxmlformats.org/officeDocument/2006/relationships/image" Target="../media/image17.wmf"/><Relationship Id="rId27" Type="http://schemas.openxmlformats.org/officeDocument/2006/relationships/oleObject" Target="../embeddings/oleObject41.bin"/><Relationship Id="rId30" Type="http://schemas.openxmlformats.org/officeDocument/2006/relationships/image" Target="../media/image21.wmf"/><Relationship Id="rId35" Type="http://schemas.openxmlformats.org/officeDocument/2006/relationships/oleObject" Target="../embeddings/oleObject45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图片1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-357187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i="1" dirty="0">
                <a:solidFill>
                  <a:srgbClr val="0033CC"/>
                </a:solidFill>
                <a:latin typeface="Times New Roman" panose="02020603050405020304" pitchFamily="18" charset="0"/>
              </a:rPr>
              <a:t>                                                       </a:t>
            </a:r>
            <a:endParaRPr lang="en-US" altLang="zh-CN" i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1800" b="0" dirty="0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5192" name="WordArt 8"/>
          <p:cNvSpPr>
            <a:spLocks noChangeArrowheads="1" noChangeShapeType="1" noTextEdit="1"/>
          </p:cNvSpPr>
          <p:nvPr/>
        </p:nvSpPr>
        <p:spPr bwMode="auto"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大学物理实验</a:t>
            </a:r>
            <a:r>
              <a:rPr kumimoji="0" lang="en-US" altLang="zh-CN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1</a:t>
            </a:r>
            <a:endParaRPr kumimoji="0" lang="zh-CN" altLang="en-US" sz="3600" b="1" i="0" u="none" strike="noStrike" kern="10" cap="none" spc="0" normalizeH="0" baseline="0" noProof="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4284663" y="2492375"/>
            <a:ext cx="4014787" cy="15128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 dirty="0" smtClean="0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+mj-ea"/>
                <a:ea typeface="+mj-ea"/>
              </a:rPr>
              <a:t>薄透镜实验</a:t>
            </a:r>
            <a:endParaRPr lang="zh-CN" altLang="en-US" sz="3600" b="1" dirty="0">
              <a:ln w="952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103" name="Text Box 11"/>
          <p:cNvSpPr txBox="1"/>
          <p:nvPr/>
        </p:nvSpPr>
        <p:spPr>
          <a:xfrm>
            <a:off x="2555875" y="6207125"/>
            <a:ext cx="4754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深圳大学物理实验教学中心</a:t>
            </a:r>
            <a:r>
              <a:rPr lang="en-US" altLang="zh-CN" sz="2400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	</a:t>
            </a:r>
            <a:endParaRPr lang="zh-CN" altLang="en-US" sz="2400" dirty="0">
              <a:solidFill>
                <a:srgbClr val="29292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/>
          <p:nvPr/>
        </p:nvSpPr>
        <p:spPr>
          <a:xfrm>
            <a:off x="214313" y="115888"/>
            <a:ext cx="251936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 实验目的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6"/>
          <p:cNvSpPr/>
          <p:nvPr/>
        </p:nvSpPr>
        <p:spPr>
          <a:xfrm>
            <a:off x="107315" y="1196975"/>
            <a:ext cx="817054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了解透镜作为光学元件在光学系统中的作用</a:t>
            </a:r>
          </a:p>
          <a:p>
            <a:pPr marL="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用位移法测凸透镜焦距</a:t>
            </a:r>
          </a:p>
          <a:p>
            <a:pPr marL="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自组望远镜并测量凹透镜焦距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/>
          <p:nvPr/>
        </p:nvSpPr>
        <p:spPr>
          <a:xfrm>
            <a:off x="268288" y="125413"/>
            <a:ext cx="233616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实验原理</a:t>
            </a:r>
            <a:endParaRPr lang="zh-CN" altLang="en-US" sz="2400" dirty="0">
              <a:solidFill>
                <a:srgbClr val="00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836930"/>
            <a:ext cx="8491220" cy="406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      </a:t>
            </a:r>
            <a:r>
              <a:rPr lang="zh-CN" altLang="en-US" sz="2400"/>
              <a:t>透镜是光学系统中很重要的光学元件，它能把光线会聚或者发散。它本身是由两个折射面包围一种透明介质所构成的元件。焦距则反映光学透镜特性的重要物理量，当透镜的厚度比其焦距小很多时，称为薄透镜。不同焦距的透镜和透镜组组成各种各样的光学仪器，为了使用光学仪器，对透镜焦距的测定是不可缺少的一个重要环节。测定透镜焦距的方法其原理都是建立在透镜成像规律的基础上</a:t>
            </a:r>
            <a:endParaRPr lang="zh-CN" altLang="en-US" dirty="0">
              <a:solidFill>
                <a:srgbClr val="002060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文本框 39953"/>
          <p:cNvSpPr txBox="1"/>
          <p:nvPr/>
        </p:nvSpPr>
        <p:spPr>
          <a:xfrm>
            <a:off x="323850" y="333375"/>
            <a:ext cx="8569325" cy="52622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/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     </a:t>
            </a:r>
          </a:p>
          <a:p>
            <a:pPr marL="342900" indent="-342900" eaLnBrk="1" hangingPunct="1"/>
            <a:endParaRPr lang="en-US" altLang="zh-CN" sz="2400" b="1" dirty="0">
              <a:latin typeface="Arial" panose="020B0604020202020204" pitchFamily="34" charset="0"/>
              <a:ea typeface="楷体_GB2312" pitchFamily="49" charset="-122"/>
            </a:endParaRPr>
          </a:p>
          <a:p>
            <a:pPr marL="342900" indent="-342900" eaLnBrk="1" hangingPunct="1"/>
            <a:r>
              <a:rPr lang="en-US" altLang="zh-CN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/>
              <a:t>薄透镜成像公式</a:t>
            </a:r>
          </a:p>
          <a:p>
            <a:pPr marL="342900" indent="-342900" eaLnBrk="1" hangingPunct="1"/>
            <a:endParaRPr lang="zh-CN" altLang="en-US" sz="2400" b="1"/>
          </a:p>
          <a:p>
            <a:pPr marL="342900" indent="-342900" eaLnBrk="1" hangingPunct="1"/>
            <a:r>
              <a:rPr lang="zh-CN" altLang="en-US" sz="2400" b="1"/>
              <a:t>  在近轴光束的条件下,薄透镜的成像公式为:</a:t>
            </a:r>
          </a:p>
          <a:p>
            <a:pPr marL="342900" indent="-342900" eaLnBrk="1" hangingPunct="1"/>
            <a:endParaRPr lang="zh-CN" altLang="en-US" sz="2400" b="1"/>
          </a:p>
          <a:p>
            <a:pPr marL="342900" indent="-342900" eaLnBrk="1" hangingPunct="1"/>
            <a:r>
              <a:rPr lang="zh-CN" altLang="en-US" sz="2400" b="1"/>
              <a:t>                       </a:t>
            </a:r>
          </a:p>
          <a:p>
            <a:pPr marL="342900" indent="-342900" eaLnBrk="1" hangingPunct="1"/>
            <a:endParaRPr lang="zh-CN" altLang="en-US" sz="2400" b="1"/>
          </a:p>
          <a:p>
            <a:pPr marL="342900" indent="-342900" eaLnBrk="1" hangingPunct="1"/>
            <a:r>
              <a:rPr lang="zh-CN" altLang="en-US" sz="2400" b="1"/>
              <a:t>       为物距,      为像距,       为焦距。</a:t>
            </a:r>
          </a:p>
          <a:p>
            <a:pPr marL="342900" indent="-342900" eaLnBrk="1" hangingPunct="1"/>
            <a:endParaRPr lang="zh-CN" altLang="en-US" sz="2400" b="1"/>
          </a:p>
          <a:p>
            <a:pPr marL="342900" indent="-342900" eaLnBrk="1" hangingPunct="1"/>
            <a:r>
              <a:rPr lang="zh-CN" altLang="en-US" sz="2400" b="1"/>
              <a:t>   实物、实像时,           为正;虚物、虚像时            为负。</a:t>
            </a:r>
          </a:p>
          <a:p>
            <a:pPr marL="342900" indent="-342900" eaLnBrk="1" hangingPunct="1"/>
            <a:endParaRPr lang="zh-CN" altLang="en-US" sz="2400" b="1"/>
          </a:p>
          <a:p>
            <a:pPr marL="342900" indent="-342900" eaLnBrk="1" hangingPunct="1"/>
            <a:r>
              <a:rPr lang="zh-CN" altLang="en-US" sz="2400" b="1"/>
              <a:t>   凸透镜     为正；凹透镜     为负。 </a:t>
            </a:r>
            <a:r>
              <a:rPr lang="zh-CN" altLang="en-US" sz="2400" b="1" dirty="0">
                <a:solidFill>
                  <a:srgbClr val="002060"/>
                </a:solidFill>
                <a:latin typeface="华文中宋" panose="02010600040101010101" pitchFamily="2" charset="-122"/>
              </a:rPr>
              <a:t>    </a:t>
            </a:r>
          </a:p>
          <a:p>
            <a:pPr marL="342900" indent="-342900" eaLnBrk="1" hangingPunct="1"/>
            <a:r>
              <a:rPr lang="zh-CN" altLang="en-US" sz="2400" b="1" dirty="0">
                <a:solidFill>
                  <a:srgbClr val="002060"/>
                </a:solidFill>
                <a:latin typeface="华文中宋" panose="02010600040101010101" pitchFamily="2" charset="-122"/>
              </a:rPr>
              <a:t>   </a:t>
            </a:r>
          </a:p>
        </p:txBody>
      </p:sp>
      <p:grpSp>
        <p:nvGrpSpPr>
          <p:cNvPr id="1035" name="组合 39985"/>
          <p:cNvGrpSpPr/>
          <p:nvPr/>
        </p:nvGrpSpPr>
        <p:grpSpPr>
          <a:xfrm>
            <a:off x="741363" y="2420938"/>
            <a:ext cx="6783388" cy="2770187"/>
            <a:chOff x="531" y="1335"/>
            <a:chExt cx="4273" cy="1745"/>
          </a:xfrm>
        </p:grpSpPr>
        <p:graphicFrame>
          <p:nvGraphicFramePr>
            <p:cNvPr id="1026" name="内容占位符 39955"/>
            <p:cNvGraphicFramePr/>
            <p:nvPr/>
          </p:nvGraphicFramePr>
          <p:xfrm>
            <a:off x="540" y="1335"/>
            <a:ext cx="1455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r:id="rId3" imgW="825500" imgH="469900" progId="Equation.3">
                    <p:embed/>
                  </p:oleObj>
                </mc:Choice>
                <mc:Fallback>
                  <p:oleObj r:id="rId3" imgW="825500" imgH="4699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0" y="1335"/>
                          <a:ext cx="1455" cy="4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对象 39961"/>
            <p:cNvGraphicFramePr/>
            <p:nvPr/>
          </p:nvGraphicFramePr>
          <p:xfrm>
            <a:off x="531" y="1983"/>
            <a:ext cx="18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r:id="rId5" imgW="114300" imgH="127000" progId="Equation.3">
                    <p:embed/>
                  </p:oleObj>
                </mc:Choice>
                <mc:Fallback>
                  <p:oleObj r:id="rId5" imgW="114300" imgH="1270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1" y="1983"/>
                          <a:ext cx="18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" name="对象 39964"/>
            <p:cNvGraphicFramePr/>
            <p:nvPr/>
          </p:nvGraphicFramePr>
          <p:xfrm>
            <a:off x="1370" y="1960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r:id="rId7" imgW="139700" imgH="152400" progId="Equation.3">
                    <p:embed/>
                  </p:oleObj>
                </mc:Choice>
                <mc:Fallback>
                  <p:oleObj r:id="rId7" imgW="139700" imgH="1524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70" y="1960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" name="对象 39967"/>
            <p:cNvGraphicFramePr/>
            <p:nvPr/>
          </p:nvGraphicFramePr>
          <p:xfrm>
            <a:off x="2322" y="1898"/>
            <a:ext cx="272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r:id="rId9" imgW="152400" imgH="177800" progId="Equation.3">
                    <p:embed/>
                  </p:oleObj>
                </mc:Choice>
                <mc:Fallback>
                  <p:oleObj r:id="rId9" imgW="152400" imgH="1778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22" y="1898"/>
                          <a:ext cx="272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0" name="内容占位符 39970"/>
            <p:cNvGraphicFramePr/>
            <p:nvPr/>
          </p:nvGraphicFramePr>
          <p:xfrm>
            <a:off x="1721" y="2378"/>
            <a:ext cx="70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r:id="rId11" imgW="266065" imgH="165100" progId="Equation.3">
                    <p:embed/>
                  </p:oleObj>
                </mc:Choice>
                <mc:Fallback>
                  <p:oleObj r:id="rId11" imgW="266065" imgH="1651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21" y="2378"/>
                          <a:ext cx="703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" name="对象 39973"/>
            <p:cNvGraphicFramePr/>
            <p:nvPr/>
          </p:nvGraphicFramePr>
          <p:xfrm>
            <a:off x="3988" y="2365"/>
            <a:ext cx="81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r:id="rId13" imgW="266065" imgH="165100" progId="Equation.3">
                    <p:embed/>
                  </p:oleObj>
                </mc:Choice>
                <mc:Fallback>
                  <p:oleObj r:id="rId13" imgW="266065" imgH="1651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988" y="2365"/>
                          <a:ext cx="816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2" name="对象 39983"/>
            <p:cNvGraphicFramePr/>
            <p:nvPr/>
          </p:nvGraphicFramePr>
          <p:xfrm>
            <a:off x="1132" y="2843"/>
            <a:ext cx="272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r:id="rId15" imgW="152400" imgH="177800" progId="Equation.3">
                    <p:embed/>
                  </p:oleObj>
                </mc:Choice>
                <mc:Fallback>
                  <p:oleObj r:id="rId15" imgW="152400" imgH="1778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32" y="2843"/>
                          <a:ext cx="272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3" name="对象 39984"/>
            <p:cNvGraphicFramePr/>
            <p:nvPr/>
          </p:nvGraphicFramePr>
          <p:xfrm>
            <a:off x="2594" y="2843"/>
            <a:ext cx="272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r:id="rId16" imgW="152400" imgH="177800" progId="Equation.3">
                    <p:embed/>
                  </p:oleObj>
                </mc:Choice>
                <mc:Fallback>
                  <p:oleObj r:id="rId16" imgW="152400" imgH="1778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94" y="2843"/>
                          <a:ext cx="272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467360" y="116840"/>
            <a:ext cx="51009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 实验原理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薄透镜成像公式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9" name="组合 12576"/>
          <p:cNvGrpSpPr/>
          <p:nvPr/>
        </p:nvGrpSpPr>
        <p:grpSpPr>
          <a:xfrm>
            <a:off x="240665" y="2734628"/>
            <a:ext cx="7991475" cy="3457575"/>
            <a:chOff x="340" y="662"/>
            <a:chExt cx="5034" cy="2178"/>
          </a:xfrm>
        </p:grpSpPr>
        <p:sp>
          <p:nvSpPr>
            <p:cNvPr id="2070" name="文本框 12385"/>
            <p:cNvSpPr txBox="1"/>
            <p:nvPr/>
          </p:nvSpPr>
          <p:spPr>
            <a:xfrm>
              <a:off x="870" y="683"/>
              <a:ext cx="52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1" name="文本框 12396"/>
            <p:cNvSpPr txBox="1"/>
            <p:nvPr/>
          </p:nvSpPr>
          <p:spPr>
            <a:xfrm>
              <a:off x="1046" y="1125"/>
              <a:ext cx="97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2" name="文本框 12414"/>
            <p:cNvSpPr txBox="1"/>
            <p:nvPr/>
          </p:nvSpPr>
          <p:spPr>
            <a:xfrm>
              <a:off x="1066" y="1344"/>
              <a:ext cx="8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2073" name="椭圆 12429"/>
            <p:cNvSpPr/>
            <p:nvPr/>
          </p:nvSpPr>
          <p:spPr>
            <a:xfrm>
              <a:off x="1840" y="684"/>
              <a:ext cx="133" cy="1144"/>
            </a:xfrm>
            <a:prstGeom prst="ellipse">
              <a:avLst/>
            </a:prstGeom>
            <a:solidFill>
              <a:srgbClr val="A1EEF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2074" name="椭圆 12432"/>
            <p:cNvSpPr/>
            <p:nvPr/>
          </p:nvSpPr>
          <p:spPr>
            <a:xfrm>
              <a:off x="3470" y="698"/>
              <a:ext cx="133" cy="1144"/>
            </a:xfrm>
            <a:prstGeom prst="ellipse">
              <a:avLst/>
            </a:prstGeom>
            <a:solidFill>
              <a:srgbClr val="A1EEF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2075" name="直接连接符 12433"/>
            <p:cNvSpPr/>
            <p:nvPr/>
          </p:nvSpPr>
          <p:spPr>
            <a:xfrm flipV="1">
              <a:off x="605" y="948"/>
              <a:ext cx="0" cy="3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6" name="直接连接符 12434"/>
            <p:cNvSpPr/>
            <p:nvPr/>
          </p:nvSpPr>
          <p:spPr>
            <a:xfrm>
              <a:off x="605" y="948"/>
              <a:ext cx="12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077" name="直接连接符 12435"/>
            <p:cNvSpPr/>
            <p:nvPr/>
          </p:nvSpPr>
          <p:spPr>
            <a:xfrm>
              <a:off x="4932" y="130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8" name="直接连接符 12446"/>
            <p:cNvSpPr/>
            <p:nvPr/>
          </p:nvSpPr>
          <p:spPr>
            <a:xfrm>
              <a:off x="5064" y="1326"/>
              <a:ext cx="0" cy="9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79" name="直接连接符 12449"/>
            <p:cNvSpPr/>
            <p:nvPr/>
          </p:nvSpPr>
          <p:spPr>
            <a:xfrm flipH="1">
              <a:off x="5057" y="1300"/>
              <a:ext cx="7" cy="27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0" name="直接连接符 12428"/>
            <p:cNvSpPr/>
            <p:nvPr/>
          </p:nvSpPr>
          <p:spPr>
            <a:xfrm>
              <a:off x="472" y="1300"/>
              <a:ext cx="46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81" name="直接连接符 12443"/>
            <p:cNvSpPr/>
            <p:nvPr/>
          </p:nvSpPr>
          <p:spPr>
            <a:xfrm flipV="1">
              <a:off x="605" y="935"/>
              <a:ext cx="2910" cy="1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graphicFrame>
          <p:nvGraphicFramePr>
            <p:cNvPr id="2051" name="对象 12463"/>
            <p:cNvGraphicFramePr/>
            <p:nvPr/>
          </p:nvGraphicFramePr>
          <p:xfrm>
            <a:off x="1091" y="2047"/>
            <a:ext cx="26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4" r:id="rId3" imgW="152400" imgH="190500" progId="Equation.3">
                    <p:embed/>
                  </p:oleObj>
                </mc:Choice>
                <mc:Fallback>
                  <p:oleObj r:id="rId3" imgW="152400" imgH="1905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91" y="2047"/>
                          <a:ext cx="264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2" name="直接连接符 12466"/>
            <p:cNvSpPr/>
            <p:nvPr/>
          </p:nvSpPr>
          <p:spPr>
            <a:xfrm>
              <a:off x="1396" y="2224"/>
              <a:ext cx="48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3" name="直接连接符 12467"/>
            <p:cNvSpPr/>
            <p:nvPr/>
          </p:nvSpPr>
          <p:spPr>
            <a:xfrm flipH="1">
              <a:off x="605" y="2224"/>
              <a:ext cx="48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052" name="对象 12472"/>
            <p:cNvGraphicFramePr/>
            <p:nvPr/>
          </p:nvGraphicFramePr>
          <p:xfrm>
            <a:off x="3298" y="2091"/>
            <a:ext cx="26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5" r:id="rId5" imgW="152400" imgH="190500" progId="Equation.3">
                    <p:embed/>
                  </p:oleObj>
                </mc:Choice>
                <mc:Fallback>
                  <p:oleObj r:id="rId5" imgW="152400" imgH="1905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98" y="2091"/>
                          <a:ext cx="265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4" name="直接连接符 12476"/>
            <p:cNvSpPr/>
            <p:nvPr/>
          </p:nvSpPr>
          <p:spPr>
            <a:xfrm>
              <a:off x="3563" y="2224"/>
              <a:ext cx="15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5" name="直接连接符 12477"/>
            <p:cNvSpPr/>
            <p:nvPr/>
          </p:nvSpPr>
          <p:spPr>
            <a:xfrm flipH="1">
              <a:off x="1875" y="2224"/>
              <a:ext cx="14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6" name="直接连接符 12478"/>
            <p:cNvSpPr/>
            <p:nvPr/>
          </p:nvSpPr>
          <p:spPr>
            <a:xfrm>
              <a:off x="1882" y="1872"/>
              <a:ext cx="0" cy="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053" name="对象 12481"/>
            <p:cNvGraphicFramePr/>
            <p:nvPr/>
          </p:nvGraphicFramePr>
          <p:xfrm>
            <a:off x="1973" y="2251"/>
            <a:ext cx="26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" r:id="rId7" imgW="190500" imgH="228600" progId="Equation.3">
                    <p:embed/>
                  </p:oleObj>
                </mc:Choice>
                <mc:Fallback>
                  <p:oleObj r:id="rId7" imgW="190500" imgH="2286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73" y="2251"/>
                          <a:ext cx="26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7" name="直接连接符 12484"/>
            <p:cNvSpPr/>
            <p:nvPr/>
          </p:nvSpPr>
          <p:spPr>
            <a:xfrm>
              <a:off x="2381" y="2432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88" name="直接连接符 12485"/>
            <p:cNvSpPr/>
            <p:nvPr/>
          </p:nvSpPr>
          <p:spPr>
            <a:xfrm flipH="1">
              <a:off x="605" y="2443"/>
              <a:ext cx="11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054" name="对象 12487"/>
            <p:cNvGraphicFramePr/>
            <p:nvPr/>
          </p:nvGraphicFramePr>
          <p:xfrm>
            <a:off x="4195" y="2251"/>
            <a:ext cx="22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7" r:id="rId9" imgW="190500" imgH="266700" progId="Equation.3">
                    <p:embed/>
                  </p:oleObj>
                </mc:Choice>
                <mc:Fallback>
                  <p:oleObj r:id="rId9" imgW="190500" imgH="2667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95" y="2251"/>
                          <a:ext cx="228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9" name="直接连接符 12490"/>
            <p:cNvSpPr/>
            <p:nvPr/>
          </p:nvSpPr>
          <p:spPr>
            <a:xfrm>
              <a:off x="4513" y="2432"/>
              <a:ext cx="551" cy="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90" name="直接连接符 12491"/>
            <p:cNvSpPr/>
            <p:nvPr/>
          </p:nvSpPr>
          <p:spPr>
            <a:xfrm flipH="1" flipV="1">
              <a:off x="3515" y="2432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91" name="直接连接符 12492"/>
            <p:cNvSpPr/>
            <p:nvPr/>
          </p:nvSpPr>
          <p:spPr>
            <a:xfrm>
              <a:off x="3515" y="1888"/>
              <a:ext cx="0" cy="2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92" name="直接连接符 12493"/>
            <p:cNvSpPr/>
            <p:nvPr/>
          </p:nvSpPr>
          <p:spPr>
            <a:xfrm>
              <a:off x="3515" y="2296"/>
              <a:ext cx="0" cy="2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93" name="直接连接符 12496"/>
            <p:cNvSpPr/>
            <p:nvPr/>
          </p:nvSpPr>
          <p:spPr>
            <a:xfrm>
              <a:off x="3606" y="981"/>
              <a:ext cx="1497" cy="49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094" name="直接连接符 12498"/>
            <p:cNvSpPr/>
            <p:nvPr/>
          </p:nvSpPr>
          <p:spPr>
            <a:xfrm>
              <a:off x="605" y="948"/>
              <a:ext cx="4452" cy="532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095" name="直接连接符 12499"/>
            <p:cNvSpPr/>
            <p:nvPr/>
          </p:nvSpPr>
          <p:spPr>
            <a:xfrm>
              <a:off x="5064" y="2224"/>
              <a:ext cx="0" cy="6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96" name="直接连接符 12500"/>
            <p:cNvSpPr/>
            <p:nvPr/>
          </p:nvSpPr>
          <p:spPr>
            <a:xfrm>
              <a:off x="605" y="1388"/>
              <a:ext cx="0" cy="14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055" name="对象 12502"/>
            <p:cNvGraphicFramePr/>
            <p:nvPr/>
          </p:nvGraphicFramePr>
          <p:xfrm>
            <a:off x="2548" y="2576"/>
            <a:ext cx="35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8" r:id="rId11" imgW="177800" imgH="165100" progId="Equation.3">
                    <p:embed/>
                  </p:oleObj>
                </mc:Choice>
                <mc:Fallback>
                  <p:oleObj r:id="rId11" imgW="177800" imgH="1651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48" y="2576"/>
                          <a:ext cx="352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7" name="直接连接符 12505"/>
            <p:cNvSpPr/>
            <p:nvPr/>
          </p:nvSpPr>
          <p:spPr>
            <a:xfrm>
              <a:off x="2857" y="2708"/>
              <a:ext cx="22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98" name="直接连接符 12506"/>
            <p:cNvSpPr/>
            <p:nvPr/>
          </p:nvSpPr>
          <p:spPr>
            <a:xfrm flipH="1">
              <a:off x="605" y="2708"/>
              <a:ext cx="19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056" name="对象 12507"/>
            <p:cNvGraphicFramePr/>
            <p:nvPr/>
          </p:nvGraphicFramePr>
          <p:xfrm>
            <a:off x="2621" y="1886"/>
            <a:ext cx="25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" r:id="rId13" imgW="139700" imgH="177800" progId="Equation.3">
                    <p:embed/>
                  </p:oleObj>
                </mc:Choice>
                <mc:Fallback>
                  <p:oleObj r:id="rId13" imgW="139700" imgH="1778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21" y="1886"/>
                          <a:ext cx="259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" name="直接连接符 12510"/>
            <p:cNvSpPr/>
            <p:nvPr/>
          </p:nvSpPr>
          <p:spPr>
            <a:xfrm>
              <a:off x="2880" y="2024"/>
              <a:ext cx="6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00" name="直接连接符 12511"/>
            <p:cNvSpPr/>
            <p:nvPr/>
          </p:nvSpPr>
          <p:spPr>
            <a:xfrm flipH="1" flipV="1">
              <a:off x="1882" y="2004"/>
              <a:ext cx="635" cy="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057" name="对象 12512"/>
            <p:cNvGraphicFramePr/>
            <p:nvPr/>
          </p:nvGraphicFramePr>
          <p:xfrm>
            <a:off x="1620" y="1212"/>
            <a:ext cx="19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" r:id="rId15" imgW="152400" imgH="190500" progId="Equation.3">
                    <p:embed/>
                  </p:oleObj>
                </mc:Choice>
                <mc:Fallback>
                  <p:oleObj r:id="rId15" imgW="152400" imgH="1905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20" y="1212"/>
                          <a:ext cx="194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" name="对象 12515"/>
            <p:cNvGraphicFramePr/>
            <p:nvPr/>
          </p:nvGraphicFramePr>
          <p:xfrm>
            <a:off x="2856" y="992"/>
            <a:ext cx="221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1" r:id="rId17" imgW="152400" imgH="190500" progId="Equation.3">
                    <p:embed/>
                  </p:oleObj>
                </mc:Choice>
                <mc:Fallback>
                  <p:oleObj r:id="rId17" imgW="152400" imgH="1905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856" y="992"/>
                          <a:ext cx="221" cy="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9" name="对象 12518"/>
            <p:cNvGraphicFramePr/>
            <p:nvPr/>
          </p:nvGraphicFramePr>
          <p:xfrm>
            <a:off x="1933" y="663"/>
            <a:ext cx="221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2" r:id="rId19" imgW="127000" imgH="139700" progId="Equation.3">
                    <p:embed/>
                  </p:oleObj>
                </mc:Choice>
                <mc:Fallback>
                  <p:oleObj r:id="rId19" imgW="127000" imgH="1397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933" y="663"/>
                          <a:ext cx="221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0" name="对象 12524"/>
            <p:cNvGraphicFramePr/>
            <p:nvPr/>
          </p:nvGraphicFramePr>
          <p:xfrm>
            <a:off x="3210" y="674"/>
            <a:ext cx="129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" r:id="rId21" imgW="127000" imgH="139700" progId="Equation.3">
                    <p:embed/>
                  </p:oleObj>
                </mc:Choice>
                <mc:Fallback>
                  <p:oleObj r:id="rId21" imgW="127000" imgH="1397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10" y="674"/>
                          <a:ext cx="129" cy="1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1" name="对象 12527"/>
            <p:cNvGraphicFramePr/>
            <p:nvPr/>
          </p:nvGraphicFramePr>
          <p:xfrm>
            <a:off x="340" y="1212"/>
            <a:ext cx="18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4" r:id="rId23" imgW="139700" imgH="139700" progId="Equation.3">
                    <p:embed/>
                  </p:oleObj>
                </mc:Choice>
                <mc:Fallback>
                  <p:oleObj r:id="rId23" imgW="139700" imgH="1397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40" y="1212"/>
                          <a:ext cx="180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2" name="对象 12530"/>
            <p:cNvGraphicFramePr/>
            <p:nvPr/>
          </p:nvGraphicFramePr>
          <p:xfrm>
            <a:off x="385" y="799"/>
            <a:ext cx="23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5" r:id="rId25" imgW="139700" imgH="139700" progId="Equation.3">
                    <p:embed/>
                  </p:oleObj>
                </mc:Choice>
                <mc:Fallback>
                  <p:oleObj r:id="rId25" imgW="139700" imgH="1397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85" y="799"/>
                          <a:ext cx="237" cy="2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3" name="对象 12533"/>
            <p:cNvGraphicFramePr/>
            <p:nvPr/>
          </p:nvGraphicFramePr>
          <p:xfrm>
            <a:off x="5110" y="1124"/>
            <a:ext cx="26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6" r:id="rId27" imgW="177800" imgH="189865" progId="Equation.3">
                    <p:embed/>
                  </p:oleObj>
                </mc:Choice>
                <mc:Fallback>
                  <p:oleObj r:id="rId27" imgW="177800" imgH="189865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110" y="1124"/>
                          <a:ext cx="264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4" name="对象 12536"/>
            <p:cNvGraphicFramePr/>
            <p:nvPr/>
          </p:nvGraphicFramePr>
          <p:xfrm>
            <a:off x="5109" y="2092"/>
            <a:ext cx="20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" r:id="rId29" imgW="177800" imgH="189865" progId="Equation.3">
                    <p:embed/>
                  </p:oleObj>
                </mc:Choice>
                <mc:Fallback>
                  <p:oleObj r:id="rId29" imgW="177800" imgH="18986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109" y="2092"/>
                          <a:ext cx="205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5" name="对象 12539"/>
            <p:cNvGraphicFramePr/>
            <p:nvPr/>
          </p:nvGraphicFramePr>
          <p:xfrm>
            <a:off x="4740" y="1034"/>
            <a:ext cx="28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8" r:id="rId31" imgW="215900" imgH="228600" progId="Equation.3">
                    <p:embed/>
                  </p:oleObj>
                </mc:Choice>
                <mc:Fallback>
                  <p:oleObj r:id="rId31" imgW="215900" imgH="2286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40" y="1034"/>
                          <a:ext cx="281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6" name="对象 12542"/>
            <p:cNvGraphicFramePr/>
            <p:nvPr/>
          </p:nvGraphicFramePr>
          <p:xfrm>
            <a:off x="5108" y="1476"/>
            <a:ext cx="265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9" r:id="rId33" imgW="215900" imgH="228600" progId="Equation.3">
                    <p:embed/>
                  </p:oleObj>
                </mc:Choice>
                <mc:Fallback>
                  <p:oleObj r:id="rId33" imgW="215900" imgH="2286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3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08" y="1476"/>
                          <a:ext cx="265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1" name="直接连接符 12553"/>
            <p:cNvSpPr/>
            <p:nvPr/>
          </p:nvSpPr>
          <p:spPr>
            <a:xfrm flipV="1">
              <a:off x="5057" y="662"/>
              <a:ext cx="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067" name="对象 12555"/>
            <p:cNvGraphicFramePr/>
            <p:nvPr/>
          </p:nvGraphicFramePr>
          <p:xfrm>
            <a:off x="5057" y="662"/>
            <a:ext cx="227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0" r:id="rId35" imgW="177800" imgH="139700" progId="Equation.3">
                    <p:embed/>
                  </p:oleObj>
                </mc:Choice>
                <mc:Fallback>
                  <p:oleObj r:id="rId35" imgW="177800" imgH="1397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057" y="662"/>
                          <a:ext cx="227" cy="1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2" name="直接连接符 12567"/>
            <p:cNvSpPr/>
            <p:nvPr/>
          </p:nvSpPr>
          <p:spPr>
            <a:xfrm>
              <a:off x="612" y="934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103" name="直接连接符 12569"/>
            <p:cNvSpPr/>
            <p:nvPr/>
          </p:nvSpPr>
          <p:spPr>
            <a:xfrm>
              <a:off x="1837" y="934"/>
              <a:ext cx="3220" cy="1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104" name="直接连接符 12572"/>
            <p:cNvSpPr/>
            <p:nvPr/>
          </p:nvSpPr>
          <p:spPr>
            <a:xfrm>
              <a:off x="612" y="934"/>
              <a:ext cx="4445" cy="1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467360" y="116840"/>
            <a:ext cx="5710555" cy="10147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 实验原理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位移法测凸透镜焦距</a:t>
            </a:r>
            <a:endParaRPr lang="zh-CN" altLang="en-US" b="1" dirty="0">
              <a:solidFill>
                <a:srgbClr val="002060"/>
              </a:solidFill>
              <a:latin typeface="华文中宋" panose="02010600040101010101" pitchFamily="2" charset="-122"/>
            </a:endParaRPr>
          </a:p>
          <a:p>
            <a:pPr algn="l" eaLnBrk="1" hangingPunct="1"/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0220" y="898525"/>
            <a:ext cx="79241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       </a:t>
            </a:r>
            <a:r>
              <a:rPr lang="zh-CN" altLang="en-US" sz="2400"/>
              <a:t>物像公式法、自准法都因透镜的中心位置不易确定而在测量中引进误差，为避免这一缺点，可取物屏和像屏之间的距离</a:t>
            </a:r>
            <a:r>
              <a:rPr lang="en-US" altLang="zh-CN" sz="2400"/>
              <a:t>D</a:t>
            </a:r>
            <a:r>
              <a:rPr lang="zh-CN" altLang="en-US" sz="2400"/>
              <a:t>大于四倍焦距（</a:t>
            </a:r>
            <a:r>
              <a:rPr lang="en-US" altLang="zh-CN" sz="2400"/>
              <a:t>4f</a:t>
            </a:r>
            <a:r>
              <a:rPr lang="zh-CN" altLang="en-US" sz="2400"/>
              <a:t>），且保持不变，沿光轴方向移动透镜，则必能在像屏上观察到二次成像</a:t>
            </a:r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2381885" y="6192520"/>
            <a:ext cx="3496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图</a:t>
            </a:r>
            <a:r>
              <a:rPr lang="en-US" altLang="zh-CN" sz="2000"/>
              <a:t>1</a:t>
            </a:r>
            <a:r>
              <a:rPr lang="zh-CN" altLang="en-US" sz="2000"/>
              <a:t>二次成像光路图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81933"/>
          <p:cNvSpPr txBox="1"/>
          <p:nvPr/>
        </p:nvSpPr>
        <p:spPr>
          <a:xfrm>
            <a:off x="323850" y="1052513"/>
            <a:ext cx="8569325" cy="51390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800" b="1" dirty="0"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          </a:t>
            </a:r>
            <a:r>
              <a:rPr lang="zh-CN" sz="2400" b="1" dirty="0">
                <a:latin typeface="Arial" panose="020B0604020202020204" pitchFamily="34" charset="0"/>
                <a:ea typeface="楷体_GB2312" pitchFamily="49" charset="-122"/>
              </a:rPr>
              <a:t>如图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所示，设物距为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时，得放大的倒立实像；物距为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时，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得缩小的倒立实像，透镜两次成像之间的位移为</a:t>
            </a:r>
            <a:r>
              <a:rPr lang="en-US" altLang="zh-CN" sz="2400" dirty="0">
                <a:ea typeface="楷体_GB2312" pitchFamily="49" charset="-122"/>
                <a:sym typeface="+mn-ea"/>
              </a:rPr>
              <a:t>d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，根据透镜成像公式，可知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dirty="0">
                <a:ea typeface="楷体_GB2312" pitchFamily="49" charset="-122"/>
                <a:sym typeface="+mn-ea"/>
              </a:rPr>
              <a:t>    O</a:t>
            </a:r>
            <a:r>
              <a:rPr lang="en-US" altLang="zh-CN" sz="2400" baseline="-25000" dirty="0">
                <a:ea typeface="楷体_GB2312" pitchFamily="49" charset="-122"/>
                <a:sym typeface="+mn-ea"/>
              </a:rPr>
              <a:t>1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处</a:t>
            </a:r>
            <a:r>
              <a:rPr lang="en-US" altLang="zh-CN" sz="2400" dirty="0">
                <a:ea typeface="楷体_GB2312" pitchFamily="49" charset="-122"/>
                <a:sym typeface="+mn-ea"/>
              </a:rPr>
              <a:t>:                                                              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（</a:t>
            </a:r>
            <a:r>
              <a:rPr lang="en-US" altLang="zh-CN" sz="2400" dirty="0">
                <a:ea typeface="楷体_GB2312" pitchFamily="49" charset="-122"/>
                <a:sym typeface="+mn-ea"/>
              </a:rPr>
              <a:t>1</a:t>
            </a:r>
            <a:r>
              <a:rPr lang="zh-CN" altLang="en-US" sz="2400" dirty="0">
                <a:ea typeface="楷体_GB2312" pitchFamily="49" charset="-122"/>
                <a:sym typeface="+mn-ea"/>
              </a:rPr>
              <a:t>）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                                                                     </a:t>
            </a:r>
            <a:endParaRPr lang="zh-CN" altLang="en-US" sz="2400" b="1" dirty="0">
              <a:latin typeface="Arial" panose="020B0604020202020204" pitchFamily="34" charset="0"/>
              <a:ea typeface="楷体_GB2312" pitchFamily="49" charset="-122"/>
              <a:sym typeface="+mn-ea"/>
            </a:endParaRP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O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处：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                                                          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）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                                                                 </a:t>
            </a:r>
            <a:endParaRPr lang="zh-CN" altLang="en-US" sz="2400" b="1" dirty="0">
              <a:latin typeface="Arial" panose="020B0604020202020204" pitchFamily="34" charset="0"/>
              <a:ea typeface="楷体_GB2312" pitchFamily="49" charset="-122"/>
              <a:sym typeface="+mn-ea"/>
            </a:endParaRP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 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由（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）（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）公式可以推出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                       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。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    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因此，只要测出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D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和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d,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  <a:sym typeface="+mn-ea"/>
              </a:rPr>
              <a:t>就可以求出焦距。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1460" y="116840"/>
            <a:ext cx="54413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 实验原理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位移法测凸透镜焦距</a:t>
            </a:r>
            <a:endParaRPr lang="zh-CN" altLang="en-US" sz="2400"/>
          </a:p>
        </p:txBody>
      </p:sp>
      <p:graphicFrame>
        <p:nvGraphicFramePr>
          <p:cNvPr id="4" name="对象 3"/>
          <p:cNvGraphicFramePr/>
          <p:nvPr/>
        </p:nvGraphicFramePr>
        <p:xfrm>
          <a:off x="3223260" y="2421255"/>
          <a:ext cx="1682115" cy="74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r:id="rId3" imgW="1002665" imgH="431800" progId="Equation.DSMT4">
                  <p:embed/>
                </p:oleObj>
              </mc:Choice>
              <mc:Fallback>
                <p:oleObj r:id="rId3" imgW="1002665" imgH="4318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3260" y="2421255"/>
                        <a:ext cx="1682115" cy="749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2926715" y="3354705"/>
          <a:ext cx="2486660" cy="780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r:id="rId5" imgW="1459865" imgH="431800" progId="Equation.DSMT4">
                  <p:embed/>
                </p:oleObj>
              </mc:Choice>
              <mc:Fallback>
                <p:oleObj r:id="rId5" imgW="1459865" imgH="4318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6715" y="3354705"/>
                        <a:ext cx="2486660" cy="7804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" name="内容占位符 12574"/>
          <p:cNvGraphicFramePr/>
          <p:nvPr/>
        </p:nvGraphicFramePr>
        <p:xfrm>
          <a:off x="4499928" y="4725353"/>
          <a:ext cx="194468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r:id="rId7" imgW="1054100" imgH="533400" progId="Equation.3">
                  <p:embed/>
                </p:oleObj>
              </mc:Choice>
              <mc:Fallback>
                <p:oleObj r:id="rId7" imgW="1054100" imgH="5334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0000"/>
                          </a:clrTo>
                        </a:clrChange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4499928" y="4725353"/>
                        <a:ext cx="1944687" cy="1003300"/>
                      </a:xfrm>
                      <a:prstGeom prst="rect">
                        <a:avLst/>
                      </a:prstGeom>
                      <a:solidFill>
                        <a:srgbClr val="A1EEFD">
                          <a:alpha val="100000"/>
                        </a:srgbClr>
                      </a:solidFill>
                      <a:ln>
                        <a:solidFill>
                          <a:schemeClr val="tx1">
                            <a:alpha val="100000"/>
                          </a:scheme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/>
          <p:nvPr/>
        </p:nvSpPr>
        <p:spPr>
          <a:xfrm>
            <a:off x="214313" y="115888"/>
            <a:ext cx="25193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实验仪器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Rectangle 6"/>
          <p:cNvSpPr/>
          <p:nvPr/>
        </p:nvSpPr>
        <p:spPr>
          <a:xfrm>
            <a:off x="395605" y="1052830"/>
            <a:ext cx="8554085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导轨，LED灯，凹透镜（f=-50mm）,凸透镜（f=100mm,f=150mm）,白屏，带logo物屏，带分划板目镜组</a:t>
            </a:r>
          </a:p>
          <a:p>
            <a:pPr eaLnBrk="1" hangingPunct="1">
              <a:lnSpc>
                <a:spcPct val="150000"/>
              </a:lnSpc>
            </a:pPr>
            <a:endParaRPr lang="zh-CN" altLang="en-US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/>
          <p:nvPr/>
        </p:nvSpPr>
        <p:spPr>
          <a:xfrm>
            <a:off x="214313" y="115888"/>
            <a:ext cx="25193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实验仪器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95605" y="687705"/>
            <a:ext cx="8553450" cy="4304030"/>
            <a:chOff x="623" y="1658"/>
            <a:chExt cx="13470" cy="6778"/>
          </a:xfrm>
        </p:grpSpPr>
        <p:sp>
          <p:nvSpPr>
            <p:cNvPr id="9219" name="Rectangle 6"/>
            <p:cNvSpPr/>
            <p:nvPr/>
          </p:nvSpPr>
          <p:spPr>
            <a:xfrm>
              <a:off x="623" y="1658"/>
              <a:ext cx="13471" cy="21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endParaRPr lang="zh-CN" altLang="en-US"/>
            </a:p>
            <a:p>
              <a:pPr eaLnBrk="1" hangingPunct="1">
                <a:lnSpc>
                  <a:spcPct val="150000"/>
                </a:lnSpc>
              </a:pPr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4" y="2007"/>
              <a:ext cx="10509" cy="5045"/>
            </a:xfrm>
            <a:prstGeom prst="rect">
              <a:avLst/>
            </a:prstGeom>
          </p:spPr>
        </p:pic>
        <p:sp>
          <p:nvSpPr>
            <p:cNvPr id="4" name="矩形标注 3"/>
            <p:cNvSpPr/>
            <p:nvPr/>
          </p:nvSpPr>
          <p:spPr>
            <a:xfrm>
              <a:off x="3005" y="6421"/>
              <a:ext cx="1451" cy="768"/>
            </a:xfrm>
            <a:prstGeom prst="wedgeRectCallout">
              <a:avLst>
                <a:gd name="adj1" fmla="val -999"/>
                <a:gd name="adj2" fmla="val -2394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005" y="6491"/>
              <a:ext cx="233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/>
                <a:t>目镜组</a:t>
              </a:r>
            </a:p>
          </p:txBody>
        </p:sp>
        <p:sp>
          <p:nvSpPr>
            <p:cNvPr id="6" name="矩形标注 5"/>
            <p:cNvSpPr/>
            <p:nvPr/>
          </p:nvSpPr>
          <p:spPr>
            <a:xfrm>
              <a:off x="4932" y="6308"/>
              <a:ext cx="1451" cy="957"/>
            </a:xfrm>
            <a:prstGeom prst="wedgeRectCallout">
              <a:avLst>
                <a:gd name="adj1" fmla="val -6985"/>
                <a:gd name="adj2" fmla="val -13926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标注 6"/>
            <p:cNvSpPr/>
            <p:nvPr/>
          </p:nvSpPr>
          <p:spPr>
            <a:xfrm>
              <a:off x="6520" y="6308"/>
              <a:ext cx="1678" cy="1071"/>
            </a:xfrm>
            <a:prstGeom prst="wedgeRectCallout">
              <a:avLst>
                <a:gd name="adj1" fmla="val -6985"/>
                <a:gd name="adj2" fmla="val -13926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标注 7"/>
            <p:cNvSpPr/>
            <p:nvPr/>
          </p:nvSpPr>
          <p:spPr>
            <a:xfrm>
              <a:off x="8334" y="6194"/>
              <a:ext cx="1796" cy="1071"/>
            </a:xfrm>
            <a:prstGeom prst="wedgeRectCallout">
              <a:avLst>
                <a:gd name="adj1" fmla="val -6985"/>
                <a:gd name="adj2" fmla="val -13926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标注 8"/>
            <p:cNvSpPr/>
            <p:nvPr/>
          </p:nvSpPr>
          <p:spPr>
            <a:xfrm>
              <a:off x="10262" y="5967"/>
              <a:ext cx="1800" cy="1071"/>
            </a:xfrm>
            <a:prstGeom prst="wedgeRectCallout">
              <a:avLst>
                <a:gd name="adj1" fmla="val -63645"/>
                <a:gd name="adj2" fmla="val -12955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标注 9"/>
            <p:cNvSpPr/>
            <p:nvPr/>
          </p:nvSpPr>
          <p:spPr>
            <a:xfrm>
              <a:off x="12643" y="5174"/>
              <a:ext cx="1451" cy="643"/>
            </a:xfrm>
            <a:prstGeom prst="wedgeRectCallout">
              <a:avLst>
                <a:gd name="adj1" fmla="val -146691"/>
                <a:gd name="adj2" fmla="val -13281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819" y="6308"/>
              <a:ext cx="171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凸透镜</a:t>
              </a:r>
            </a:p>
            <a:p>
              <a:r>
                <a:rPr lang="en-US" altLang="zh-CN" sz="1600"/>
                <a:t>f=150mm</a:t>
              </a:r>
              <a:endParaRPr lang="zh-CN" altLang="en-US" sz="16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20" y="6327"/>
              <a:ext cx="171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凹透镜</a:t>
              </a:r>
            </a:p>
            <a:p>
              <a:r>
                <a:rPr lang="en-US" altLang="zh-CN" sz="1600"/>
                <a:t>f=-50mm</a:t>
              </a:r>
              <a:endParaRPr lang="zh-CN" altLang="en-US" sz="160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391" y="6270"/>
              <a:ext cx="171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凸透镜</a:t>
              </a:r>
            </a:p>
            <a:p>
              <a:r>
                <a:rPr lang="en-US" altLang="zh-CN" sz="1600"/>
                <a:t>f=100mm</a:t>
              </a:r>
              <a:endParaRPr lang="zh-CN" altLang="en-US" sz="160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427" y="5939"/>
              <a:ext cx="187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/>
                <a:t>带</a:t>
              </a:r>
              <a:r>
                <a:rPr lang="en-US" altLang="zh-CN" sz="1600"/>
                <a:t>logo</a:t>
              </a:r>
            </a:p>
            <a:p>
              <a:r>
                <a:rPr lang="zh-CN" altLang="en-US" sz="1600"/>
                <a:t>物屏</a:t>
              </a:r>
            </a:p>
          </p:txBody>
        </p:sp>
        <p:sp>
          <p:nvSpPr>
            <p:cNvPr id="16" name="矩形标注 15"/>
            <p:cNvSpPr/>
            <p:nvPr/>
          </p:nvSpPr>
          <p:spPr>
            <a:xfrm>
              <a:off x="1303" y="7668"/>
              <a:ext cx="1200" cy="768"/>
            </a:xfrm>
            <a:prstGeom prst="wedgeRectCallout">
              <a:avLst>
                <a:gd name="adj1" fmla="val -12500"/>
                <a:gd name="adj2" fmla="val -37135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303" y="7762"/>
              <a:ext cx="233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/>
                <a:t>白屏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051685" y="2925445"/>
            <a:ext cx="7065010" cy="3810635"/>
            <a:chOff x="3231" y="4607"/>
            <a:chExt cx="11126" cy="6001"/>
          </a:xfrm>
        </p:grpSpPr>
        <p:pic>
          <p:nvPicPr>
            <p:cNvPr id="18" name="图片 17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3231" y="6988"/>
              <a:ext cx="3621" cy="3621"/>
            </a:xfrm>
            <a:prstGeom prst="rect">
              <a:avLst/>
            </a:prstGeom>
          </p:spPr>
        </p:pic>
        <p:cxnSp>
          <p:nvCxnSpPr>
            <p:cNvPr id="21" name="直接箭头连接符 20"/>
            <p:cNvCxnSpPr/>
            <p:nvPr/>
          </p:nvCxnSpPr>
          <p:spPr>
            <a:xfrm>
              <a:off x="3458" y="6587"/>
              <a:ext cx="454" cy="624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16" y="7093"/>
              <a:ext cx="1742" cy="2433"/>
            </a:xfrm>
            <a:prstGeom prst="rect">
              <a:avLst/>
            </a:prstGeom>
          </p:spPr>
        </p:pic>
        <p:cxnSp>
          <p:nvCxnSpPr>
            <p:cNvPr id="24" name="直接箭头连接符 23"/>
            <p:cNvCxnSpPr/>
            <p:nvPr/>
          </p:nvCxnSpPr>
          <p:spPr>
            <a:xfrm>
              <a:off x="10716" y="6496"/>
              <a:ext cx="454" cy="624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12643" y="4607"/>
              <a:ext cx="171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LED</a:t>
              </a:r>
              <a:r>
                <a:rPr lang="zh-CN" altLang="en-US" sz="1600"/>
                <a:t>灯</a:t>
              </a: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文本框 87043"/>
          <p:cNvSpPr txBox="1"/>
          <p:nvPr/>
        </p:nvSpPr>
        <p:spPr>
          <a:xfrm>
            <a:off x="107315" y="189230"/>
            <a:ext cx="8642350" cy="3599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marR="0" indent="-34290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</a:rPr>
              <a:t>    </a:t>
            </a:r>
            <a:endParaRPr kumimoji="0" lang="en-US" altLang="zh-CN" sz="2400" b="1" kern="1200" cap="none" spc="0" normalizeH="0" baseline="0" noProof="1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</a:rPr>
              <a:t>4.1 </a:t>
            </a:r>
            <a:r>
              <a:rPr kumimoji="0" lang="zh-CN" altLang="en-US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</a:rPr>
              <a:t>位移法测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楷体_GB2312" pitchFamily="49" charset="-122"/>
                <a:cs typeface="+mn-cs"/>
              </a:rPr>
              <a:t>凸</a:t>
            </a:r>
            <a:r>
              <a:rPr kumimoji="0" lang="zh-CN" altLang="en-US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</a:rPr>
              <a:t>透镜焦距</a:t>
            </a:r>
            <a:r>
              <a:rPr kumimoji="0" lang="en-US" altLang="zh-CN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</a:rPr>
              <a:t>:   </a:t>
            </a:r>
          </a:p>
          <a:p>
            <a:pPr marL="342900" marR="0" indent="-34290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400" b="1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主要步骤：</a:t>
            </a:r>
            <a:endParaRPr kumimoji="0" lang="zh-CN" altLang="en-US" sz="2400" b="1" kern="1200" cap="none" spc="0" normalizeH="0" baseline="0" noProof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marR="0" indent="-34290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  <a:sym typeface="+mn-ea"/>
              </a:rPr>
              <a:t>（</a:t>
            </a:r>
            <a:r>
              <a:rPr kumimoji="0" lang="en-US" altLang="zh-CN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  <a:sym typeface="+mn-ea"/>
              </a:rPr>
              <a:t>1</a:t>
            </a:r>
            <a:r>
              <a:rPr kumimoji="0" lang="zh-CN" altLang="en-US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  <a:sym typeface="+mn-ea"/>
              </a:rPr>
              <a:t>）</a:t>
            </a:r>
            <a:r>
              <a:rPr kumimoji="0" lang="en-US" altLang="zh-CN" sz="2400" b="1" kern="1200" cap="none" spc="0" normalizeH="0" baseline="0" noProof="1">
                <a:latin typeface="Arial" panose="020B0604020202020204" pitchFamily="34" charset="0"/>
                <a:ea typeface="楷体_GB2312" pitchFamily="49" charset="-122"/>
                <a:cs typeface="+mn-cs"/>
                <a:sym typeface="+mn-ea"/>
              </a:rPr>
              <a:t>物AB与像屏的间距D＞4f    (f=150) 时；</a:t>
            </a:r>
            <a:endParaRPr kumimoji="0" lang="zh-CN" altLang="en-US" sz="2400" b="1" kern="1200" cap="none" spc="0" normalizeH="0" baseline="0" noProof="1"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indent="-34290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）透镜在间移动时可在像屏上成两次像</a:t>
            </a:r>
            <a:r>
              <a:rPr kumimoji="0" lang="en-US" altLang="zh-CN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,一次成放大的像u</a:t>
            </a:r>
            <a:r>
              <a:rPr kumimoji="0" lang="en-US" altLang="zh-CN" sz="2400" b="1" kern="1200" cap="none" spc="0" normalizeH="0" baseline="-2500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,一次成缩小的像u</a:t>
            </a:r>
            <a:r>
              <a:rPr kumimoji="0" lang="en-US" altLang="zh-CN" sz="2400" b="1" kern="1200" cap="none" spc="0" normalizeH="0" baseline="-2500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d=u</a:t>
            </a:r>
            <a:r>
              <a:rPr kumimoji="0" lang="en-US" altLang="zh-CN" sz="2400" b="1" kern="1200" cap="none" spc="0" normalizeH="0" baseline="-2500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-u</a:t>
            </a:r>
            <a:r>
              <a:rPr kumimoji="0" lang="en-US" altLang="zh-CN" sz="2400" b="1" kern="1200" cap="none" spc="0" normalizeH="0" baseline="-2500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</a:p>
          <a:p>
            <a:pPr marL="342900" marR="0" indent="-342900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400" b="1" kern="1200" cap="none" spc="0" normalizeH="0" baseline="0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）改变像屏位置</a:t>
            </a:r>
            <a:r>
              <a:rPr kumimoji="0" lang="zh-CN" altLang="en-US" sz="2400" b="1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，重复测量</a:t>
            </a:r>
            <a:r>
              <a:rPr kumimoji="0" lang="en-US" altLang="zh-CN" sz="2400" b="1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kumimoji="0" lang="zh-CN" altLang="en-US" sz="2400" b="1" kern="120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次，求平均值。</a:t>
            </a:r>
            <a:endParaRPr kumimoji="0" lang="zh-CN" altLang="en-US" sz="2400" b="1" kern="1200" cap="none" spc="0" normalizeH="0" baseline="0" noProof="1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093" name="文本框 87062"/>
          <p:cNvSpPr txBox="1"/>
          <p:nvPr/>
        </p:nvSpPr>
        <p:spPr>
          <a:xfrm>
            <a:off x="251460" y="5523230"/>
            <a:ext cx="82969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</a:rPr>
              <a:t>注：测量时记录的是位置，而不是距离</a:t>
            </a:r>
          </a:p>
        </p:txBody>
      </p:sp>
      <p:graphicFrame>
        <p:nvGraphicFramePr>
          <p:cNvPr id="3074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65955" y="2708593"/>
          <a:ext cx="11144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r:id="rId3" imgW="762000" imgH="419100" progId="Equation.KSEE3">
                  <p:embed/>
                </p:oleObj>
              </mc:Choice>
              <mc:Fallback>
                <p:oleObj r:id="rId3" imgW="762000" imgH="419100" progId="Equation.KSEE3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5955" y="2708593"/>
                        <a:ext cx="1114425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94" name="组合 12576"/>
          <p:cNvGrpSpPr/>
          <p:nvPr/>
        </p:nvGrpSpPr>
        <p:grpSpPr>
          <a:xfrm>
            <a:off x="1335405" y="3745230"/>
            <a:ext cx="5543550" cy="1778000"/>
            <a:chOff x="340" y="662"/>
            <a:chExt cx="5034" cy="2178"/>
          </a:xfrm>
        </p:grpSpPr>
        <p:sp>
          <p:nvSpPr>
            <p:cNvPr id="3095" name="文本框 12385"/>
            <p:cNvSpPr txBox="1"/>
            <p:nvPr/>
          </p:nvSpPr>
          <p:spPr>
            <a:xfrm>
              <a:off x="870" y="683"/>
              <a:ext cx="52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3096" name="文本框 12396"/>
            <p:cNvSpPr txBox="1"/>
            <p:nvPr/>
          </p:nvSpPr>
          <p:spPr>
            <a:xfrm>
              <a:off x="1046" y="1125"/>
              <a:ext cx="97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3097" name="文本框 12414"/>
            <p:cNvSpPr txBox="1"/>
            <p:nvPr/>
          </p:nvSpPr>
          <p:spPr>
            <a:xfrm>
              <a:off x="1066" y="1344"/>
              <a:ext cx="8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3098" name="椭圆 12429"/>
            <p:cNvSpPr/>
            <p:nvPr/>
          </p:nvSpPr>
          <p:spPr>
            <a:xfrm>
              <a:off x="1840" y="684"/>
              <a:ext cx="133" cy="1144"/>
            </a:xfrm>
            <a:prstGeom prst="ellipse">
              <a:avLst/>
            </a:prstGeom>
            <a:solidFill>
              <a:srgbClr val="A1EEF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099" name="椭圆 12432"/>
            <p:cNvSpPr/>
            <p:nvPr/>
          </p:nvSpPr>
          <p:spPr>
            <a:xfrm>
              <a:off x="3470" y="698"/>
              <a:ext cx="133" cy="1144"/>
            </a:xfrm>
            <a:prstGeom prst="ellipse">
              <a:avLst/>
            </a:prstGeom>
            <a:solidFill>
              <a:srgbClr val="A1EEF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100" name="直接连接符 12433"/>
            <p:cNvSpPr/>
            <p:nvPr/>
          </p:nvSpPr>
          <p:spPr>
            <a:xfrm flipV="1">
              <a:off x="605" y="948"/>
              <a:ext cx="0" cy="3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1" name="直接连接符 12434"/>
            <p:cNvSpPr/>
            <p:nvPr/>
          </p:nvSpPr>
          <p:spPr>
            <a:xfrm>
              <a:off x="605" y="948"/>
              <a:ext cx="12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3102" name="直接连接符 12435"/>
            <p:cNvSpPr/>
            <p:nvPr/>
          </p:nvSpPr>
          <p:spPr>
            <a:xfrm>
              <a:off x="4932" y="130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3" name="直接连接符 12446"/>
            <p:cNvSpPr/>
            <p:nvPr/>
          </p:nvSpPr>
          <p:spPr>
            <a:xfrm>
              <a:off x="5064" y="1326"/>
              <a:ext cx="0" cy="9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4" name="直接连接符 12449"/>
            <p:cNvSpPr/>
            <p:nvPr/>
          </p:nvSpPr>
          <p:spPr>
            <a:xfrm flipH="1">
              <a:off x="5057" y="1300"/>
              <a:ext cx="7" cy="27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5" name="直接连接符 12428"/>
            <p:cNvSpPr/>
            <p:nvPr/>
          </p:nvSpPr>
          <p:spPr>
            <a:xfrm>
              <a:off x="472" y="1300"/>
              <a:ext cx="46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06" name="直接连接符 12443"/>
            <p:cNvSpPr/>
            <p:nvPr/>
          </p:nvSpPr>
          <p:spPr>
            <a:xfrm flipV="1">
              <a:off x="605" y="935"/>
              <a:ext cx="2910" cy="1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graphicFrame>
          <p:nvGraphicFramePr>
            <p:cNvPr id="3075" name="对象 12463"/>
            <p:cNvGraphicFramePr/>
            <p:nvPr/>
          </p:nvGraphicFramePr>
          <p:xfrm>
            <a:off x="1091" y="2047"/>
            <a:ext cx="26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4" r:id="rId5" imgW="152400" imgH="190500" progId="Equation.3">
                    <p:embed/>
                  </p:oleObj>
                </mc:Choice>
                <mc:Fallback>
                  <p:oleObj r:id="rId5" imgW="152400" imgH="190500" progId="Equation.3">
                    <p:embed/>
                    <p:pic>
                      <p:nvPicPr>
                        <p:cNvPr id="0" name="图片 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91" y="2047"/>
                          <a:ext cx="264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7" name="直接连接符 12466"/>
            <p:cNvSpPr/>
            <p:nvPr/>
          </p:nvSpPr>
          <p:spPr>
            <a:xfrm>
              <a:off x="1396" y="2224"/>
              <a:ext cx="48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08" name="直接连接符 12467"/>
            <p:cNvSpPr/>
            <p:nvPr/>
          </p:nvSpPr>
          <p:spPr>
            <a:xfrm flipH="1">
              <a:off x="605" y="2224"/>
              <a:ext cx="48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076" name="对象 12472"/>
            <p:cNvGraphicFramePr/>
            <p:nvPr/>
          </p:nvGraphicFramePr>
          <p:xfrm>
            <a:off x="3298" y="2091"/>
            <a:ext cx="26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5" r:id="rId7" imgW="152400" imgH="190500" progId="Equation.3">
                    <p:embed/>
                  </p:oleObj>
                </mc:Choice>
                <mc:Fallback>
                  <p:oleObj r:id="rId7" imgW="152400" imgH="190500" progId="Equation.3">
                    <p:embed/>
                    <p:pic>
                      <p:nvPicPr>
                        <p:cNvPr id="0" name="图片 1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98" y="2091"/>
                          <a:ext cx="265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9" name="直接连接符 12476"/>
            <p:cNvSpPr/>
            <p:nvPr/>
          </p:nvSpPr>
          <p:spPr>
            <a:xfrm>
              <a:off x="3563" y="2224"/>
              <a:ext cx="15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10" name="直接连接符 12477"/>
            <p:cNvSpPr/>
            <p:nvPr/>
          </p:nvSpPr>
          <p:spPr>
            <a:xfrm flipH="1">
              <a:off x="1875" y="2224"/>
              <a:ext cx="14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11" name="直接连接符 12478"/>
            <p:cNvSpPr/>
            <p:nvPr/>
          </p:nvSpPr>
          <p:spPr>
            <a:xfrm>
              <a:off x="1882" y="1872"/>
              <a:ext cx="0" cy="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077" name="对象 12481"/>
            <p:cNvGraphicFramePr/>
            <p:nvPr/>
          </p:nvGraphicFramePr>
          <p:xfrm>
            <a:off x="1973" y="2251"/>
            <a:ext cx="26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6" r:id="rId9" imgW="190500" imgH="228600" progId="Equation.3">
                    <p:embed/>
                  </p:oleObj>
                </mc:Choice>
                <mc:Fallback>
                  <p:oleObj r:id="rId9" imgW="190500" imgH="228600" progId="Equation.3">
                    <p:embed/>
                    <p:pic>
                      <p:nvPicPr>
                        <p:cNvPr id="0" name="图片 1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73" y="2251"/>
                          <a:ext cx="26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12" name="直接连接符 12484"/>
            <p:cNvSpPr/>
            <p:nvPr/>
          </p:nvSpPr>
          <p:spPr>
            <a:xfrm>
              <a:off x="2381" y="2432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13" name="直接连接符 12485"/>
            <p:cNvSpPr/>
            <p:nvPr/>
          </p:nvSpPr>
          <p:spPr>
            <a:xfrm flipH="1">
              <a:off x="605" y="2443"/>
              <a:ext cx="11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078" name="对象 12487"/>
            <p:cNvGraphicFramePr/>
            <p:nvPr/>
          </p:nvGraphicFramePr>
          <p:xfrm>
            <a:off x="4195" y="2251"/>
            <a:ext cx="22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7" r:id="rId11" imgW="190500" imgH="266700" progId="Equation.3">
                    <p:embed/>
                  </p:oleObj>
                </mc:Choice>
                <mc:Fallback>
                  <p:oleObj r:id="rId11" imgW="190500" imgH="266700" progId="Equation.3">
                    <p:embed/>
                    <p:pic>
                      <p:nvPicPr>
                        <p:cNvPr id="0" name="图片 1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95" y="2251"/>
                          <a:ext cx="228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14" name="直接连接符 12490"/>
            <p:cNvSpPr/>
            <p:nvPr/>
          </p:nvSpPr>
          <p:spPr>
            <a:xfrm>
              <a:off x="4513" y="2432"/>
              <a:ext cx="551" cy="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15" name="直接连接符 12491"/>
            <p:cNvSpPr/>
            <p:nvPr/>
          </p:nvSpPr>
          <p:spPr>
            <a:xfrm flipH="1" flipV="1">
              <a:off x="3515" y="2432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16" name="直接连接符 12492"/>
            <p:cNvSpPr/>
            <p:nvPr/>
          </p:nvSpPr>
          <p:spPr>
            <a:xfrm>
              <a:off x="3515" y="1888"/>
              <a:ext cx="0" cy="2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7" name="直接连接符 12493"/>
            <p:cNvSpPr/>
            <p:nvPr/>
          </p:nvSpPr>
          <p:spPr>
            <a:xfrm>
              <a:off x="3515" y="2296"/>
              <a:ext cx="0" cy="2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18" name="直接连接符 12496"/>
            <p:cNvSpPr/>
            <p:nvPr/>
          </p:nvSpPr>
          <p:spPr>
            <a:xfrm>
              <a:off x="3606" y="981"/>
              <a:ext cx="1497" cy="49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3119" name="直接连接符 12498"/>
            <p:cNvSpPr/>
            <p:nvPr/>
          </p:nvSpPr>
          <p:spPr>
            <a:xfrm>
              <a:off x="605" y="948"/>
              <a:ext cx="4452" cy="532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3120" name="直接连接符 12499"/>
            <p:cNvSpPr/>
            <p:nvPr/>
          </p:nvSpPr>
          <p:spPr>
            <a:xfrm>
              <a:off x="5064" y="2224"/>
              <a:ext cx="0" cy="6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21" name="直接连接符 12500"/>
            <p:cNvSpPr/>
            <p:nvPr/>
          </p:nvSpPr>
          <p:spPr>
            <a:xfrm>
              <a:off x="605" y="1388"/>
              <a:ext cx="0" cy="14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079" name="对象 12502"/>
            <p:cNvGraphicFramePr/>
            <p:nvPr/>
          </p:nvGraphicFramePr>
          <p:xfrm>
            <a:off x="2548" y="2576"/>
            <a:ext cx="35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8" r:id="rId13" imgW="177800" imgH="165100" progId="Equation.3">
                    <p:embed/>
                  </p:oleObj>
                </mc:Choice>
                <mc:Fallback>
                  <p:oleObj r:id="rId13" imgW="177800" imgH="165100" progId="Equation.3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48" y="2576"/>
                          <a:ext cx="352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2" name="直接连接符 12505"/>
            <p:cNvSpPr/>
            <p:nvPr/>
          </p:nvSpPr>
          <p:spPr>
            <a:xfrm>
              <a:off x="2857" y="2708"/>
              <a:ext cx="220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23" name="直接连接符 12506"/>
            <p:cNvSpPr/>
            <p:nvPr/>
          </p:nvSpPr>
          <p:spPr>
            <a:xfrm flipH="1">
              <a:off x="605" y="2708"/>
              <a:ext cx="19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080" name="对象 12507"/>
            <p:cNvGraphicFramePr/>
            <p:nvPr/>
          </p:nvGraphicFramePr>
          <p:xfrm>
            <a:off x="2621" y="1886"/>
            <a:ext cx="25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9" r:id="rId15" imgW="139700" imgH="177800" progId="Equation.3">
                    <p:embed/>
                  </p:oleObj>
                </mc:Choice>
                <mc:Fallback>
                  <p:oleObj r:id="rId15" imgW="139700" imgH="177800" progId="Equation.3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21" y="1886"/>
                          <a:ext cx="259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4" name="直接连接符 12510"/>
            <p:cNvSpPr/>
            <p:nvPr/>
          </p:nvSpPr>
          <p:spPr>
            <a:xfrm>
              <a:off x="2880" y="2024"/>
              <a:ext cx="6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25" name="直接连接符 12511"/>
            <p:cNvSpPr/>
            <p:nvPr/>
          </p:nvSpPr>
          <p:spPr>
            <a:xfrm flipH="1" flipV="1">
              <a:off x="1882" y="2004"/>
              <a:ext cx="635" cy="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081" name="对象 12512"/>
            <p:cNvGraphicFramePr/>
            <p:nvPr/>
          </p:nvGraphicFramePr>
          <p:xfrm>
            <a:off x="1620" y="1212"/>
            <a:ext cx="19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" r:id="rId17" imgW="152400" imgH="190500" progId="Equation.3">
                    <p:embed/>
                  </p:oleObj>
                </mc:Choice>
                <mc:Fallback>
                  <p:oleObj r:id="rId17" imgW="152400" imgH="190500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620" y="1212"/>
                          <a:ext cx="194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2" name="对象 12515"/>
            <p:cNvGraphicFramePr/>
            <p:nvPr/>
          </p:nvGraphicFramePr>
          <p:xfrm>
            <a:off x="2856" y="992"/>
            <a:ext cx="221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" r:id="rId19" imgW="152400" imgH="190500" progId="Equation.3">
                    <p:embed/>
                  </p:oleObj>
                </mc:Choice>
                <mc:Fallback>
                  <p:oleObj r:id="rId19" imgW="152400" imgH="190500" progId="Equation.3">
                    <p:embed/>
                    <p:pic>
                      <p:nvPicPr>
                        <p:cNvPr id="0" name="图片 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856" y="992"/>
                          <a:ext cx="221" cy="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3" name="对象 12518"/>
            <p:cNvGraphicFramePr/>
            <p:nvPr/>
          </p:nvGraphicFramePr>
          <p:xfrm>
            <a:off x="1933" y="663"/>
            <a:ext cx="221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2" r:id="rId21" imgW="127000" imgH="139700" progId="Equation.3">
                    <p:embed/>
                  </p:oleObj>
                </mc:Choice>
                <mc:Fallback>
                  <p:oleObj r:id="rId21" imgW="127000" imgH="139700" progId="Equation.3">
                    <p:embed/>
                    <p:pic>
                      <p:nvPicPr>
                        <p:cNvPr id="0" name="图片 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933" y="663"/>
                          <a:ext cx="221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4" name="对象 12524"/>
            <p:cNvGraphicFramePr/>
            <p:nvPr/>
          </p:nvGraphicFramePr>
          <p:xfrm>
            <a:off x="3210" y="674"/>
            <a:ext cx="129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" r:id="rId23" imgW="127000" imgH="139700" progId="Equation.3">
                    <p:embed/>
                  </p:oleObj>
                </mc:Choice>
                <mc:Fallback>
                  <p:oleObj r:id="rId23" imgW="127000" imgH="139700" progId="Equation.3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210" y="674"/>
                          <a:ext cx="129" cy="1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5" name="对象 12527"/>
            <p:cNvGraphicFramePr/>
            <p:nvPr/>
          </p:nvGraphicFramePr>
          <p:xfrm>
            <a:off x="340" y="1212"/>
            <a:ext cx="18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4" r:id="rId25" imgW="139700" imgH="139700" progId="Equation.3">
                    <p:embed/>
                  </p:oleObj>
                </mc:Choice>
                <mc:Fallback>
                  <p:oleObj r:id="rId25" imgW="139700" imgH="139700" progId="Equation.3">
                    <p:embed/>
                    <p:pic>
                      <p:nvPicPr>
                        <p:cNvPr id="0" name="图片 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40" y="1212"/>
                          <a:ext cx="180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6" name="对象 12530"/>
            <p:cNvGraphicFramePr/>
            <p:nvPr/>
          </p:nvGraphicFramePr>
          <p:xfrm>
            <a:off x="385" y="799"/>
            <a:ext cx="23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5" r:id="rId27" imgW="139700" imgH="139700" progId="Equation.3">
                    <p:embed/>
                  </p:oleObj>
                </mc:Choice>
                <mc:Fallback>
                  <p:oleObj r:id="rId27" imgW="139700" imgH="139700" progId="Equation.3">
                    <p:embed/>
                    <p:pic>
                      <p:nvPicPr>
                        <p:cNvPr id="0" name="图片 9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85" y="799"/>
                          <a:ext cx="237" cy="2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7" name="对象 12533"/>
            <p:cNvGraphicFramePr/>
            <p:nvPr/>
          </p:nvGraphicFramePr>
          <p:xfrm>
            <a:off x="5110" y="1124"/>
            <a:ext cx="26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6" r:id="rId29" imgW="177800" imgH="189865" progId="Equation.3">
                    <p:embed/>
                  </p:oleObj>
                </mc:Choice>
                <mc:Fallback>
                  <p:oleObj r:id="rId29" imgW="177800" imgH="189865" progId="Equation.3">
                    <p:embed/>
                    <p:pic>
                      <p:nvPicPr>
                        <p:cNvPr id="0" name="图片 13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110" y="1124"/>
                          <a:ext cx="264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8" name="对象 12536"/>
            <p:cNvGraphicFramePr/>
            <p:nvPr/>
          </p:nvGraphicFramePr>
          <p:xfrm>
            <a:off x="5109" y="2092"/>
            <a:ext cx="20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7" r:id="rId31" imgW="177800" imgH="189865" progId="Equation.3">
                    <p:embed/>
                  </p:oleObj>
                </mc:Choice>
                <mc:Fallback>
                  <p:oleObj r:id="rId31" imgW="177800" imgH="189865" progId="Equation.3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109" y="2092"/>
                          <a:ext cx="205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9" name="对象 12539"/>
            <p:cNvGraphicFramePr/>
            <p:nvPr/>
          </p:nvGraphicFramePr>
          <p:xfrm>
            <a:off x="4740" y="1034"/>
            <a:ext cx="28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8" r:id="rId33" imgW="215900" imgH="228600" progId="Equation.3">
                    <p:embed/>
                  </p:oleObj>
                </mc:Choice>
                <mc:Fallback>
                  <p:oleObj r:id="rId33" imgW="215900" imgH="228600" progId="Equation.3">
                    <p:embed/>
                    <p:pic>
                      <p:nvPicPr>
                        <p:cNvPr id="0" name="图片 17"/>
                        <p:cNvPicPr/>
                        <p:nvPr/>
                      </p:nvPicPr>
                      <p:blipFill>
                        <a:blip r:embed="rId34"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40" y="1034"/>
                          <a:ext cx="281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0" name="对象 12542"/>
            <p:cNvGraphicFramePr/>
            <p:nvPr/>
          </p:nvGraphicFramePr>
          <p:xfrm>
            <a:off x="5108" y="1476"/>
            <a:ext cx="265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9" r:id="rId35" imgW="215900" imgH="228600" progId="Equation.3">
                    <p:embed/>
                  </p:oleObj>
                </mc:Choice>
                <mc:Fallback>
                  <p:oleObj r:id="rId35" imgW="215900" imgH="228600" progId="Equation.3">
                    <p:embed/>
                    <p:pic>
                      <p:nvPicPr>
                        <p:cNvPr id="0" name="图片 16"/>
                        <p:cNvPicPr/>
                        <p:nvPr/>
                      </p:nvPicPr>
                      <p:blipFill>
                        <a:blip r:embed="rId3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08" y="1476"/>
                          <a:ext cx="265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6" name="直接连接符 12553"/>
            <p:cNvSpPr/>
            <p:nvPr/>
          </p:nvSpPr>
          <p:spPr>
            <a:xfrm flipV="1">
              <a:off x="5057" y="662"/>
              <a:ext cx="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091" name="对象 12555"/>
            <p:cNvGraphicFramePr/>
            <p:nvPr/>
          </p:nvGraphicFramePr>
          <p:xfrm>
            <a:off x="5057" y="662"/>
            <a:ext cx="227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0" r:id="rId37" imgW="177800" imgH="139700" progId="Equation.3">
                    <p:embed/>
                  </p:oleObj>
                </mc:Choice>
                <mc:Fallback>
                  <p:oleObj r:id="rId37" imgW="177800" imgH="139700" progId="Equation.3">
                    <p:embed/>
                    <p:pic>
                      <p:nvPicPr>
                        <p:cNvPr id="0" name="图片 18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5057" y="662"/>
                          <a:ext cx="227" cy="1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7" name="直接连接符 12567"/>
            <p:cNvSpPr/>
            <p:nvPr/>
          </p:nvSpPr>
          <p:spPr>
            <a:xfrm>
              <a:off x="612" y="934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3128" name="直接连接符 12569"/>
            <p:cNvSpPr/>
            <p:nvPr/>
          </p:nvSpPr>
          <p:spPr>
            <a:xfrm>
              <a:off x="1837" y="934"/>
              <a:ext cx="3220" cy="1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3129" name="直接连接符 12572"/>
            <p:cNvSpPr/>
            <p:nvPr/>
          </p:nvSpPr>
          <p:spPr>
            <a:xfrm>
              <a:off x="612" y="934"/>
              <a:ext cx="4445" cy="1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</p:grpSp>
      <p:sp>
        <p:nvSpPr>
          <p:cNvPr id="20" name="文本框 19"/>
          <p:cNvSpPr txBox="1"/>
          <p:nvPr/>
        </p:nvSpPr>
        <p:spPr>
          <a:xfrm>
            <a:off x="323850" y="116840"/>
            <a:ext cx="69538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实验内容及步骤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4.1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位移法测凹透镜焦距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116840"/>
            <a:ext cx="74637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实验内容及步骤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4.1</a:t>
            </a:r>
            <a:r>
              <a:rPr lang="zh-CN" altLang="en-US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位移法测凹透镜焦距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83895" y="1628775"/>
          <a:ext cx="639572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699135"/>
                <a:gridCol w="1265555"/>
                <a:gridCol w="1302385"/>
                <a:gridCol w="721995"/>
                <a:gridCol w="621030"/>
                <a:gridCol w="596900"/>
                <a:gridCol w="65532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物屏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透镜位置</a:t>
                      </a: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透镜位置</a:t>
                      </a: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像屏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93196"/>
          <p:cNvSpPr txBox="1"/>
          <p:nvPr/>
        </p:nvSpPr>
        <p:spPr>
          <a:xfrm>
            <a:off x="250825" y="1112838"/>
            <a:ext cx="838835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4.2. 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自组望远镜并测量凹透镜焦距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: </a:t>
            </a:r>
          </a:p>
          <a:p>
            <a:pPr marL="342900" indent="-342900" eaLnBrk="1" hangingPunct="1">
              <a:spcBef>
                <a:spcPct val="50000"/>
              </a:spcBef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243" name="文本框 99"/>
          <p:cNvSpPr txBox="1"/>
          <p:nvPr/>
        </p:nvSpPr>
        <p:spPr>
          <a:xfrm>
            <a:off x="495300" y="3794125"/>
            <a:ext cx="8620125" cy="2399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主要步骤：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(1) </a:t>
            </a:r>
            <a:r>
              <a:rPr lang="zh-CN" altLang="en-US" sz="2000" b="1" dirty="0">
                <a:latin typeface="宋体" panose="02010600030101010101" pitchFamily="2" charset="-122"/>
              </a:rPr>
              <a:t>物屏与透镜</a:t>
            </a:r>
            <a:r>
              <a:rPr lang="en-US" altLang="zh-CN" sz="2000" b="1" dirty="0">
                <a:latin typeface="宋体" panose="02010600030101010101" pitchFamily="2" charset="-122"/>
              </a:rPr>
              <a:t>L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</a:rPr>
              <a:t>f=</a:t>
            </a:r>
            <a:r>
              <a:rPr lang="en-US" altLang="zh-CN" sz="2000" b="1" dirty="0">
                <a:latin typeface="宋体" panose="02010600030101010101" pitchFamily="2" charset="-122"/>
              </a:rPr>
              <a:t>100</a:t>
            </a:r>
            <a:r>
              <a:rPr lang="zh-CN" altLang="en-US" sz="2000" b="1" dirty="0">
                <a:latin typeface="宋体" panose="02010600030101010101" pitchFamily="2" charset="-122"/>
              </a:rPr>
              <a:t>）组平行光；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(2) </a:t>
            </a:r>
            <a:r>
              <a:rPr lang="zh-CN" altLang="en-US" sz="2000" b="1" dirty="0">
                <a:latin typeface="宋体" panose="02010600030101010101" pitchFamily="2" charset="-122"/>
              </a:rPr>
              <a:t>透镜</a:t>
            </a:r>
            <a:r>
              <a:rPr lang="en-US" altLang="zh-CN" sz="2000" b="1" dirty="0">
                <a:latin typeface="宋体" panose="02010600030101010101" pitchFamily="2" charset="-122"/>
              </a:rPr>
              <a:t>L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</a:rPr>
              <a:t>f=150</a:t>
            </a:r>
            <a:r>
              <a:rPr lang="zh-CN" altLang="en-US" sz="2000" b="1" dirty="0">
                <a:latin typeface="宋体" panose="02010600030101010101" pitchFamily="2" charset="-122"/>
              </a:rPr>
              <a:t>）与目镜组成望远镜，通过望远镜观察物屏像（物屏</a:t>
            </a:r>
            <a:r>
              <a:rPr lang="en-US" altLang="zh-CN" sz="2000" b="1" dirty="0">
                <a:latin typeface="Times New Roman" panose="02020603050405020304" pitchFamily="18" charset="0"/>
              </a:rPr>
              <a:t>logo</a:t>
            </a:r>
            <a:r>
              <a:rPr lang="zh-CN" altLang="en-US" sz="2000" b="1" dirty="0">
                <a:latin typeface="宋体" panose="02010600030101010101" pitchFamily="2" charset="-122"/>
              </a:rPr>
              <a:t>），调节</a:t>
            </a:r>
            <a:r>
              <a:rPr lang="en-US" altLang="zh-CN" sz="2000" b="1" dirty="0">
                <a:latin typeface="宋体" panose="02010600030101010101" pitchFamily="2" charset="-122"/>
              </a:rPr>
              <a:t>L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与目镜距离，直到所观察的物屏像最清晰，记下此时</a:t>
            </a:r>
            <a:r>
              <a:rPr lang="en-US" altLang="zh-CN" sz="2000" b="1" dirty="0">
                <a:latin typeface="宋体" panose="02010600030101010101" pitchFamily="2" charset="-122"/>
              </a:rPr>
              <a:t>L</a:t>
            </a:r>
            <a:r>
              <a:rPr lang="en-US" altLang="zh-CN" sz="20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与目镜距离；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pic>
        <p:nvPicPr>
          <p:cNvPr id="10244" name="图片 1"/>
          <p:cNvPicPr>
            <a:picLocks noChangeAspect="1"/>
          </p:cNvPicPr>
          <p:nvPr/>
        </p:nvPicPr>
        <p:blipFill>
          <a:blip r:embed="rId2"/>
          <a:srcRect l="7750" t="12949" r="13899" b="11330"/>
          <a:stretch>
            <a:fillRect/>
          </a:stretch>
        </p:blipFill>
        <p:spPr>
          <a:xfrm>
            <a:off x="2124075" y="1595438"/>
            <a:ext cx="6769100" cy="2849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23850" y="116840"/>
            <a:ext cx="81730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实验内容及步骤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4.2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自组望远镜并测量凹透镜焦距</a:t>
            </a:r>
            <a:endParaRPr lang="zh-CN" altLang="en-US" sz="24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文本框 99"/>
          <p:cNvSpPr txBox="1"/>
          <p:nvPr/>
        </p:nvSpPr>
        <p:spPr>
          <a:xfrm>
            <a:off x="251460" y="909320"/>
            <a:ext cx="8488363" cy="2861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zh-CN" altLang="en-US" sz="2400" b="1" dirty="0">
                <a:latin typeface="宋体" panose="02010600030101010101" pitchFamily="2" charset="-122"/>
              </a:rPr>
              <a:t>用</a:t>
            </a:r>
            <a:r>
              <a:rPr lang="en-US" altLang="zh-CN" sz="2400" b="1" dirty="0">
                <a:latin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成一缩小实像，记下实像位置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，如图放上凹透镜</a:t>
            </a:r>
            <a:r>
              <a:rPr lang="en-US" altLang="zh-CN" sz="2400" b="1" dirty="0">
                <a:latin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，调节</a:t>
            </a:r>
            <a:r>
              <a:rPr lang="en-US" altLang="zh-CN" sz="2400" b="1" dirty="0">
                <a:latin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位置，直至通过望远镜能观察到最清晰的物屏像。记下此时</a:t>
            </a:r>
            <a:r>
              <a:rPr lang="en-US" altLang="zh-CN" sz="2400" b="1" dirty="0">
                <a:latin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位置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，则</a:t>
            </a:r>
            <a:r>
              <a:rPr lang="en-US" altLang="zh-CN" sz="2400" b="1" dirty="0">
                <a:latin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焦距数值为</a:t>
            </a:r>
            <a:r>
              <a:rPr lang="en-US" altLang="zh-CN" sz="2400" b="1" dirty="0">
                <a:latin typeface="Times New Roman" panose="02020603050405020304" pitchFamily="18" charset="0"/>
              </a:rPr>
              <a:t>a-b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(4) </a:t>
            </a:r>
            <a:r>
              <a:rPr lang="zh-CN" altLang="en-US" sz="2400" b="1" dirty="0">
                <a:latin typeface="宋体" panose="02010600030101010101" pitchFamily="2" charset="-122"/>
              </a:rPr>
              <a:t>改变实像位置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，重复测量</a:t>
            </a:r>
            <a:r>
              <a:rPr lang="en-US" altLang="zh-CN" sz="2400" b="1" dirty="0">
                <a:latin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</a:rPr>
              <a:t>次，求平均值。</a:t>
            </a:r>
          </a:p>
          <a:p>
            <a:pPr eaLnBrk="1" hangingPunct="1">
              <a:lnSpc>
                <a:spcPct val="150000"/>
              </a:lnSpc>
            </a:pP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850" y="116840"/>
            <a:ext cx="81730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实验内容及步骤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4.2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自组望远镜并测量凹透镜焦距</a:t>
            </a:r>
            <a:endParaRPr lang="zh-CN" altLang="en-US" sz="240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18440" y="3285490"/>
          <a:ext cx="86013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165"/>
                <a:gridCol w="1701800"/>
                <a:gridCol w="1389380"/>
                <a:gridCol w="1102360"/>
                <a:gridCol w="211160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L</a:t>
                      </a:r>
                      <a:r>
                        <a:rPr lang="en-US" altLang="zh-CN" baseline="-2500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</a:t>
                      </a: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与目镜距离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实像位置</a:t>
                      </a: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L</a:t>
                      </a:r>
                      <a:r>
                        <a:rPr lang="en-US" altLang="zh-CN" baseline="-2500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</a:t>
                      </a: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位置</a:t>
                      </a: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L</a:t>
                      </a:r>
                      <a:r>
                        <a:rPr lang="en-US" altLang="zh-CN" baseline="-25000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</a:t>
                      </a: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焦距（</a:t>
                      </a: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a-b</a:t>
                      </a:r>
                      <a:r>
                        <a:rPr lang="zh-CN" altLang="en-US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）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1">
                              <a:lumMod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文本占位符 108546"/>
          <p:cNvSpPr>
            <a:spLocks noGrp="1"/>
          </p:cNvSpPr>
          <p:nvPr>
            <p:ph idx="1"/>
          </p:nvPr>
        </p:nvSpPr>
        <p:spPr>
          <a:xfrm>
            <a:off x="179705" y="621030"/>
            <a:ext cx="8834120" cy="43516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、用位移法计算凸透镜焦距，</a:t>
            </a:r>
            <a:r>
              <a:rPr lang="zh-CN" altLang="en-US" sz="3000" b="1">
                <a:ln>
                  <a:noFill/>
                </a:ln>
                <a:effectLst/>
                <a:uLnTx/>
                <a:uFillTx/>
                <a:sym typeface="+mn-ea"/>
              </a:rPr>
              <a:t>算出百分比误差</a:t>
            </a: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lang="zh-CN" altLang="en-US" sz="3000" b="1">
                <a:ln>
                  <a:noFill/>
                </a:ln>
                <a:effectLst/>
                <a:uLnTx/>
                <a:uFillTx/>
                <a:sym typeface="+mn-ea"/>
              </a:rPr>
              <a:t>计算凹透镜焦距，算出百分比误差。</a:t>
            </a: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思考题</a:t>
            </a: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a</a:t>
            </a:r>
            <a:r>
              <a:rPr lang="zh-CN" altLang="en-US" sz="3000" b="1">
                <a:ln>
                  <a:noFill/>
                </a:ln>
                <a:effectLst/>
                <a:uLnTx/>
                <a:uFillTx/>
                <a:sym typeface="+mn-ea"/>
              </a:rPr>
              <a:t>利用位移法测凸透镜焦距有什么优点？</a:t>
            </a: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b</a:t>
            </a:r>
            <a:r>
              <a:rPr lang="zh-CN" altLang="en-US" sz="3000" b="1">
                <a:ln>
                  <a:noFill/>
                </a:ln>
                <a:effectLst/>
                <a:uLnTx/>
                <a:uFillTx/>
                <a:sym typeface="+mn-ea"/>
              </a:rPr>
              <a:t>共轴调节的具体方法。</a:t>
            </a: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116840"/>
            <a:ext cx="31489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实验报告要求</a:t>
            </a:r>
            <a:endParaRPr lang="zh-CN" sz="320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85,&quot;width&quot;:568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29dabe0-c955-4862-9382-d418314395ab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b7f1fea-cbc3-413f-937d-0d3410c58854}"/>
</p:tagLst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全屏显示(4:3)</PresentationFormat>
  <Paragraphs>102</Paragraphs>
  <Slides>13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等线</vt:lpstr>
      <vt:lpstr>华文隶书</vt:lpstr>
      <vt:lpstr>华文中宋</vt:lpstr>
      <vt:lpstr>楷体_GB2312</vt:lpstr>
      <vt:lpstr>宋体</vt:lpstr>
      <vt:lpstr>微软雅黑</vt:lpstr>
      <vt:lpstr>Arial</vt:lpstr>
      <vt:lpstr>Times New Roman</vt:lpstr>
      <vt:lpstr>Verdana</vt:lpstr>
      <vt:lpstr>Wingdings</vt:lpstr>
      <vt:lpstr>古瓶荷花</vt:lpstr>
      <vt:lpstr>1_古瓶荷花</vt:lpstr>
      <vt:lpstr>Microsoft 公式 3.0</vt:lpstr>
      <vt:lpstr>MathType 6.0 Equation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xi</cp:lastModifiedBy>
  <cp:revision>69</cp:revision>
  <dcterms:created xsi:type="dcterms:W3CDTF">2007-03-01T02:00:00Z</dcterms:created>
  <dcterms:modified xsi:type="dcterms:W3CDTF">2024-03-18T02:59:57Z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31FECAAFF780431885478569203D8613</vt:lpwstr>
  </property>
  <property fmtid="{D5CDD505-2E9C-101B-9397-08002B2CF9AE}" pid="3" name="KSOProductBuildVer">
    <vt:lpwstr>2052-11.8.2.8361</vt:lpwstr>
  </property>
</Properties>
</file>