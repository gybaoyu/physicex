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390" r:id="rId2"/>
    <p:sldId id="421" r:id="rId3"/>
    <p:sldId id="391" r:id="rId4"/>
    <p:sldId id="352" r:id="rId5"/>
    <p:sldId id="431" r:id="rId6"/>
    <p:sldId id="424" r:id="rId7"/>
    <p:sldId id="425" r:id="rId8"/>
    <p:sldId id="411" r:id="rId9"/>
    <p:sldId id="413" r:id="rId10"/>
    <p:sldId id="427" r:id="rId11"/>
    <p:sldId id="416" r:id="rId12"/>
    <p:sldId id="438" r:id="rId13"/>
    <p:sldId id="437" r:id="rId14"/>
    <p:sldId id="377" r:id="rId15"/>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9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53A3F"/>
    <a:srgbClr val="006666"/>
    <a:srgbClr val="0000FF"/>
    <a:srgbClr val="003A39"/>
    <a:srgbClr val="292929"/>
    <a:srgbClr val="000066"/>
    <a:srgbClr val="0E302F"/>
    <a:srgbClr val="FF0066"/>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81712" autoAdjust="0"/>
  </p:normalViewPr>
  <p:slideViewPr>
    <p:cSldViewPr snapToObjects="1" showGuides="1">
      <p:cViewPr varScale="1">
        <p:scale>
          <a:sx n="66" d="100"/>
          <a:sy n="66" d="100"/>
        </p:scale>
        <p:origin x="1536" y="53"/>
      </p:cViewPr>
      <p:guideLst>
        <p:guide orient="horz" pos="2160"/>
        <p:guide pos="294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2178"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defRPr sz="1200" smtClean="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79" name="Rectangle 3"/>
          <p:cNvSpPr>
            <a:spLocks noGrp="1" noChangeArrowheads="1"/>
          </p:cNvSpPr>
          <p:nvPr>
            <p:ph type="dt" sz="quarter"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smtClean="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0" name="Rectangle 4"/>
          <p:cNvSpPr>
            <a:spLocks noGrp="1" noChangeArrowheads="1"/>
          </p:cNvSpPr>
          <p:nvPr>
            <p:ph type="ftr" sz="quarter" idx="2"/>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defRPr sz="1200" smtClean="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2181" name="Rectangle 5"/>
          <p:cNvSpPr>
            <a:spLocks noGrp="1" noChangeArrowheads="1"/>
          </p:cNvSpPr>
          <p:nvPr>
            <p:ph type="sldNum" sz="quarter" idx="3"/>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p>
            <a:pPr lvl="0" algn="r" eaLnBrk="1" hangingPunct="1"/>
            <a:fld id="{9A0DB2DC-4C9A-4742-B13C-FB6460FD3503}" type="slidenum">
              <a:rPr lang="en-US" altLang="zh-CN" sz="1200" dirty="0"/>
              <a:t>‹#›</a:t>
            </a:fld>
            <a:endParaRPr lang="en-US" altLang="zh-CN" sz="1200"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80137C-9973-47F2-8045-BB5A6F54D63B}" type="datetimeFigureOut">
              <a:rPr lang="zh-CN" altLang="en-US" smtClean="0"/>
              <a:t>2025/3/31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EBAE75-934E-4923-912E-BA34D5DB24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10"/>
          </p:nvPr>
        </p:nvSpPr>
        <p:spPr/>
        <p:txBody>
          <a:bodyPr/>
          <a:lstStyle/>
          <a:p>
            <a:fld id="{A8EBAE75-934E-4923-912E-BA34D5DB2493}" type="slidenum">
              <a:rPr lang="zh-CN" altLang="en-US" smtClean="0"/>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GB" dirty="0"/>
          </a:p>
        </p:txBody>
      </p:sp>
      <p:sp>
        <p:nvSpPr>
          <p:cNvPr id="4" name="灯片编号占位符 3"/>
          <p:cNvSpPr>
            <a:spLocks noGrp="1"/>
          </p:cNvSpPr>
          <p:nvPr>
            <p:ph type="sldNum" sz="quarter" idx="5"/>
          </p:nvPr>
        </p:nvSpPr>
        <p:spPr/>
        <p:txBody>
          <a:bodyPr/>
          <a:lstStyle/>
          <a:p>
            <a:fld id="{A8EBAE75-934E-4923-912E-BA34D5DB2493}"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EBAE75-934E-4923-912E-BA34D5DB2493}"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Pct val="70000"/>
              <a:buFont typeface="Wingdings" panose="05000000000000000000" pitchFamily="2" charset="2"/>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40" descr="bj"/>
          <p:cNvPicPr>
            <a:picLocks noChangeAspect="1"/>
          </p:cNvPicPr>
          <p:nvPr userDrawn="1"/>
        </p:nvPicPr>
        <p:blipFill>
          <a:blip r:embed="rId13"/>
          <a:stretch>
            <a:fillRect/>
          </a:stretch>
        </p:blipFill>
        <p:spPr>
          <a:xfrm>
            <a:off x="0" y="6134100"/>
            <a:ext cx="9144000" cy="739775"/>
          </a:xfrm>
          <a:prstGeom prst="rect">
            <a:avLst/>
          </a:prstGeom>
          <a:noFill/>
          <a:ln w="9525">
            <a:noFill/>
          </a:ln>
        </p:spPr>
      </p:pic>
      <p:grpSp>
        <p:nvGrpSpPr>
          <p:cNvPr id="3075" name="Group 20"/>
          <p:cNvGrpSpPr/>
          <p:nvPr userDrawn="1"/>
        </p:nvGrpSpPr>
        <p:grpSpPr>
          <a:xfrm>
            <a:off x="6805613" y="6415088"/>
            <a:ext cx="198437" cy="327025"/>
            <a:chOff x="3492" y="3902"/>
            <a:chExt cx="155" cy="257"/>
          </a:xfrm>
        </p:grpSpPr>
        <p:sp>
          <p:nvSpPr>
            <p:cNvPr id="462869" name="AutoShape 21">
              <a:hlinkClick r:id="" action="ppaction://hlinkshowjump?jump=lastslide"/>
            </p:cNvPr>
            <p:cNvSpPr>
              <a:spLocks noChangeArrowheads="1"/>
            </p:cNvSpPr>
            <p:nvPr/>
          </p:nvSpPr>
          <p:spPr bwMode="auto">
            <a:xfrm rot="5400000">
              <a:off x="3441" y="3953"/>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7" name="Line 22">
              <a:hlinkClick r:id="" action="ppaction://hlinkshowjump?jump=lastslide"/>
            </p:cNvPr>
            <p:cNvSpPr>
              <a:spLocks noChangeShapeType="1"/>
            </p:cNvSpPr>
            <p:nvPr/>
          </p:nvSpPr>
          <p:spPr bwMode="auto">
            <a:xfrm>
              <a:off x="3647" y="3923"/>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462871" name="AutoShape 23">
            <a:hlinkClick r:id="" action="ppaction://hlinkshowjump?jump=nextslide"/>
          </p:cNvPr>
          <p:cNvSpPr>
            <a:spLocks noChangeArrowheads="1"/>
          </p:cNvSpPr>
          <p:nvPr/>
        </p:nvSpPr>
        <p:spPr bwMode="auto">
          <a:xfrm rot="5400000">
            <a:off x="7471569"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62872" name="AutoShape 24">
            <a:hlinkClick r:id="" action="ppaction://hlinkshowjump?jump=previousslide"/>
          </p:cNvPr>
          <p:cNvSpPr>
            <a:spLocks noChangeArrowheads="1"/>
          </p:cNvSpPr>
          <p:nvPr/>
        </p:nvSpPr>
        <p:spPr bwMode="auto">
          <a:xfrm rot="16200000">
            <a:off x="8019256" y="6479381"/>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nvGrpSpPr>
          <p:cNvPr id="3078" name="Group 25"/>
          <p:cNvGrpSpPr/>
          <p:nvPr userDrawn="1"/>
        </p:nvGrpSpPr>
        <p:grpSpPr>
          <a:xfrm>
            <a:off x="8766175" y="6415088"/>
            <a:ext cx="198438" cy="327025"/>
            <a:chOff x="4558" y="3875"/>
            <a:chExt cx="155" cy="257"/>
          </a:xfrm>
        </p:grpSpPr>
        <p:sp>
          <p:nvSpPr>
            <p:cNvPr id="462874" name="AutoShape 26">
              <a:hlinkClick r:id="" action="ppaction://hlinkshowjump?jump=firstslide"/>
            </p:cNvPr>
            <p:cNvSpPr>
              <a:spLocks noChangeArrowheads="1"/>
            </p:cNvSpPr>
            <p:nvPr/>
          </p:nvSpPr>
          <p:spPr bwMode="auto">
            <a:xfrm rot="16200000">
              <a:off x="4507" y="3926"/>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5" name="Line 27"/>
            <p:cNvSpPr>
              <a:spLocks noChangeShapeType="1"/>
            </p:cNvSpPr>
            <p:nvPr/>
          </p:nvSpPr>
          <p:spPr bwMode="auto">
            <a:xfrm>
              <a:off x="4558" y="3896"/>
              <a:ext cx="0" cy="204"/>
            </a:xfrm>
            <a:prstGeom prst="line">
              <a:avLst/>
            </a:prstGeom>
            <a:noFill/>
            <a:ln w="28575">
              <a:solidFill>
                <a:srgbClr val="ACEAFE"/>
              </a:solidFill>
              <a:round/>
            </a:ln>
            <a:effectLst>
              <a:prstShdw prst="shdw17" dist="17961" dir="2700000">
                <a:srgbClr val="678C98"/>
              </a:prstShdw>
            </a:effec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pic>
        <p:nvPicPr>
          <p:cNvPr id="3079" name="Picture 37" descr="bj"/>
          <p:cNvPicPr>
            <a:picLocks noChangeAspect="1"/>
          </p:cNvPicPr>
          <p:nvPr userDrawn="1"/>
        </p:nvPicPr>
        <p:blipFill>
          <a:blip r:embed="rId13"/>
          <a:stretch>
            <a:fillRect/>
          </a:stretch>
        </p:blipFill>
        <p:spPr>
          <a:xfrm>
            <a:off x="0" y="0"/>
            <a:ext cx="9144000" cy="739775"/>
          </a:xfrm>
          <a:prstGeom prst="rect">
            <a:avLst/>
          </a:prstGeom>
          <a:noFill/>
          <a:ln w="9525">
            <a:noFill/>
          </a:ln>
        </p:spPr>
      </p:pic>
      <p:sp>
        <p:nvSpPr>
          <p:cNvPr id="1032" name="Rectangle 33"/>
          <p:cNvSpPr>
            <a:spLocks noChangeArrowheads="1"/>
          </p:cNvSpPr>
          <p:nvPr/>
        </p:nvSpPr>
        <p:spPr bwMode="auto">
          <a:xfrm>
            <a:off x="0" y="692150"/>
            <a:ext cx="9144000" cy="73025"/>
          </a:xfrm>
          <a:prstGeom prst="rect">
            <a:avLst/>
          </a:prstGeom>
          <a:gradFill rotWithShape="1">
            <a:gsLst>
              <a:gs pos="0">
                <a:srgbClr val="FF3300"/>
              </a:gs>
              <a:gs pos="100000">
                <a:schemeClr val="bg1"/>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3" name="Rectangle 34"/>
          <p:cNvSpPr>
            <a:spLocks noChangeArrowheads="1"/>
          </p:cNvSpPr>
          <p:nvPr/>
        </p:nvSpPr>
        <p:spPr bwMode="auto">
          <a:xfrm>
            <a:off x="0" y="6173788"/>
            <a:ext cx="9144000" cy="73025"/>
          </a:xfrm>
          <a:prstGeom prst="rect">
            <a:avLst/>
          </a:prstGeom>
          <a:gradFill rotWithShape="1">
            <a:gsLst>
              <a:gs pos="0">
                <a:schemeClr val="bg1"/>
              </a:gs>
              <a:gs pos="100000">
                <a:srgbClr val="FF3300"/>
              </a:gs>
            </a:gsLst>
            <a:lin ang="0" scaled="1"/>
          </a:gradFill>
          <a:ln w="9525">
            <a:noFill/>
            <a:miter lim="800000"/>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anose="05000000000000000000"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anose="05000000000000000000"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file:///C:\Documents%20and%20Settings\new\&#26700;&#38754;\&#26032;&#24314;&#25991;&#20214;&#22841;%20(2)\006.06.%20&#26790;&#20013;&#30340;&#23130;&#31036;%20MARIAGE%20D'%20AMOUR.mp3" TargetMode="External"/><Relationship Id="rId1" Type="http://schemas.microsoft.com/office/2007/relationships/media" Target="file:///C:\Documents%20and%20Settings\new\&#26700;&#38754;\&#26032;&#24314;&#25991;&#20214;&#22841;%20(2)\006.06.%20&#26790;&#20013;&#30340;&#23130;&#31036;%20MARIAGE%20D'%20AMOUR.mp3" TargetMode="Externa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图片1a"/>
          <p:cNvPicPr>
            <a:picLocks noChangeAspect="1"/>
          </p:cNvPicPr>
          <p:nvPr/>
        </p:nvPicPr>
        <p:blipFill>
          <a:blip r:embed="rId2"/>
          <a:stretch>
            <a:fillRect/>
          </a:stretch>
        </p:blipFill>
        <p:spPr>
          <a:xfrm>
            <a:off x="0" y="549275"/>
            <a:ext cx="9144000" cy="6308725"/>
          </a:xfrm>
          <a:prstGeom prst="rect">
            <a:avLst/>
          </a:prstGeom>
          <a:noFill/>
          <a:ln w="9525">
            <a:noFill/>
          </a:ln>
        </p:spPr>
      </p:pic>
      <p:sp>
        <p:nvSpPr>
          <p:cNvPr id="4099" name="Rectangle 4"/>
          <p:cNvSpPr/>
          <p:nvPr/>
        </p:nvSpPr>
        <p:spPr>
          <a:xfrm>
            <a:off x="-357187" y="5949950"/>
            <a:ext cx="9144000" cy="908050"/>
          </a:xfrm>
          <a:prstGeom prst="rect">
            <a:avLst/>
          </a:prstGeom>
          <a:solidFill>
            <a:srgbClr val="0099FF"/>
          </a:solidFill>
          <a:ln w="28575">
            <a:noFill/>
          </a:ln>
        </p:spPr>
        <p:txBody>
          <a:bodyPr wrap="none" anchor="ctr"/>
          <a:lstStyle/>
          <a:p>
            <a:pPr algn="ctr" eaLnBrk="1" hangingPunct="1"/>
            <a:r>
              <a:rPr lang="en-US" altLang="zh-CN" sz="2800" b="1" i="1" dirty="0">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4100" name="Rectangle 5"/>
          <p:cNvSpPr/>
          <p:nvPr/>
        </p:nvSpPr>
        <p:spPr>
          <a:xfrm>
            <a:off x="0" y="0"/>
            <a:ext cx="9144000" cy="908050"/>
          </a:xfrm>
          <a:prstGeom prst="rect">
            <a:avLst/>
          </a:prstGeom>
          <a:solidFill>
            <a:srgbClr val="6699FF"/>
          </a:solidFill>
          <a:ln w="28575">
            <a:noFill/>
          </a:ln>
        </p:spPr>
        <p:txBody>
          <a:bodyPr wrap="none" anchor="ctr"/>
          <a:lstStyle/>
          <a:p>
            <a:pPr eaLnBrk="1" hangingPunct="1"/>
            <a:endParaRPr lang="zh-CN" altLang="en-US" dirty="0">
              <a:latin typeface="Arial" panose="020B0604020202020204" pitchFamily="34" charset="0"/>
            </a:endParaRPr>
          </a:p>
        </p:txBody>
      </p:sp>
      <p:sp>
        <p:nvSpPr>
          <p:cNvPr id="605192" name="WordArt 8"/>
          <p:cNvSpPr>
            <a:spLocks noChangeArrowheads="1" noChangeShapeType="1" noTextEdit="1"/>
          </p:cNvSpPr>
          <p:nvPr/>
        </p:nvSpPr>
        <p:spPr bwMode="auto">
          <a:xfrm>
            <a:off x="4716463" y="4510088"/>
            <a:ext cx="3095625" cy="503237"/>
          </a:xfrm>
          <a:prstGeom prst="rect">
            <a:avLst/>
          </a:prstGeom>
        </p:spPr>
        <p:txBody>
          <a:bodyPr wrap="none" numCol="1"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rPr>
              <a:t>大学物理实验</a:t>
            </a:r>
            <a:r>
              <a:rPr kumimoji="0" lang="en-US" altLang="zh-CN"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rPr>
              <a:t>1</a:t>
            </a:r>
            <a:endParaRPr kumimoji="0" lang="zh-CN" altLang="en-US"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endParaRPr>
          </a:p>
        </p:txBody>
      </p:sp>
      <p:sp>
        <p:nvSpPr>
          <p:cNvPr id="4102" name="WordArt 9"/>
          <p:cNvSpPr>
            <a:spLocks noTextEdit="1"/>
          </p:cNvSpPr>
          <p:nvPr/>
        </p:nvSpPr>
        <p:spPr>
          <a:xfrm>
            <a:off x="3851920" y="2492896"/>
            <a:ext cx="4863579" cy="1512044"/>
          </a:xfrm>
          <a:prstGeom prst="rect">
            <a:avLst/>
          </a:prstGeom>
        </p:spPr>
        <p:txBody>
          <a:bodyPr wrap="none" fromWordArt="1">
            <a:prstTxWarp prst="textPlain">
              <a:avLst>
                <a:gd name="adj" fmla="val 50000"/>
              </a:avLst>
            </a:prstTxWarp>
            <a:normAutofit/>
          </a:bodyPr>
          <a:lstStyle/>
          <a:p>
            <a:pPr algn="ctr"/>
            <a:r>
              <a:rPr lang="zh-CN" altLang="en-US" sz="3600" b="1" dirty="0">
                <a:ln w="9525" cap="flat" cmpd="sng">
                  <a:solidFill>
                    <a:srgbClr val="000066"/>
                  </a:solidFill>
                  <a:prstDash val="solid"/>
                  <a:headEnd type="none" w="med" len="med"/>
                  <a:tailEnd type="none" w="med" len="med"/>
                </a:ln>
                <a:solidFill>
                  <a:srgbClr val="000066"/>
                </a:solidFill>
                <a:effectLst>
                  <a:outerShdw dist="35921" dir="2699999" algn="ctr" rotWithShape="0">
                    <a:srgbClr val="C0C0C0">
                      <a:alpha val="79999"/>
                    </a:srgbClr>
                  </a:outerShdw>
                </a:effectLst>
                <a:latin typeface="微软雅黑" panose="020B0503020204020204" pitchFamily="34" charset="-122"/>
                <a:ea typeface="微软雅黑" panose="020B0503020204020204" pitchFamily="34" charset="-122"/>
              </a:rPr>
              <a:t>准稳态法测比热导热系数</a:t>
            </a:r>
          </a:p>
        </p:txBody>
      </p:sp>
      <p:sp>
        <p:nvSpPr>
          <p:cNvPr id="4103" name="Text Box 11"/>
          <p:cNvSpPr txBox="1"/>
          <p:nvPr/>
        </p:nvSpPr>
        <p:spPr>
          <a:xfrm>
            <a:off x="2555875" y="6207125"/>
            <a:ext cx="5687060" cy="460375"/>
          </a:xfrm>
          <a:prstGeom prst="rect">
            <a:avLst/>
          </a:prstGeom>
          <a:noFill/>
          <a:ln w="9525">
            <a:noFill/>
          </a:ln>
        </p:spPr>
        <p:txBody>
          <a:bodyPr wrap="none">
            <a:spAutoFit/>
          </a:bodyPr>
          <a:lstStyle/>
          <a:p>
            <a:pPr eaLnBrk="1" hangingPunct="1"/>
            <a:r>
              <a:rPr lang="zh-CN" altLang="en-US" sz="2400" b="1" dirty="0">
                <a:solidFill>
                  <a:srgbClr val="292929"/>
                </a:solidFill>
                <a:latin typeface="Arial" panose="020B0604020202020204" pitchFamily="34" charset="0"/>
                <a:ea typeface="华文隶书" panose="02010800040101010101" pitchFamily="2" charset="-122"/>
              </a:rPr>
              <a:t>深圳大学物理实验教学中心</a:t>
            </a:r>
            <a:r>
              <a:rPr lang="en-US" altLang="zh-CN" sz="2400" b="1" dirty="0">
                <a:solidFill>
                  <a:srgbClr val="292929"/>
                </a:solidFill>
                <a:latin typeface="Arial" panose="020B0604020202020204" pitchFamily="34" charset="0"/>
                <a:ea typeface="华文隶书" panose="02010800040101010101" pitchFamily="2" charset="-122"/>
              </a:rPr>
              <a:t>	2025</a:t>
            </a:r>
            <a:r>
              <a:rPr lang="en-US" altLang="zh-CN" sz="2400" b="1" dirty="0">
                <a:solidFill>
                  <a:srgbClr val="292929"/>
                </a:solidFill>
                <a:ea typeface="华文隶书" panose="02010800040101010101" pitchFamily="2" charset="-122"/>
              </a:rPr>
              <a:t>.3</a:t>
            </a:r>
            <a:endParaRPr lang="zh-CN" altLang="en-US" sz="2400" b="1" dirty="0">
              <a:solidFill>
                <a:srgbClr val="292929"/>
              </a:solidFill>
              <a:latin typeface="Arial" panose="020B0604020202020204" pitchFamily="34" charset="0"/>
              <a:ea typeface="华文隶书" panose="0201080004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337237" y="88325"/>
            <a:ext cx="1826141" cy="584775"/>
          </a:xfrm>
          <a:prstGeom prst="rect">
            <a:avLst/>
          </a:prstGeom>
          <a:noFill/>
          <a:ln w="9525">
            <a:noFill/>
          </a:ln>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背景介绍</a:t>
            </a:r>
          </a:p>
        </p:txBody>
      </p:sp>
      <p:sp>
        <p:nvSpPr>
          <p:cNvPr id="5124" name="矩形 1"/>
          <p:cNvSpPr/>
          <p:nvPr/>
        </p:nvSpPr>
        <p:spPr>
          <a:xfrm>
            <a:off x="215516" y="3246372"/>
            <a:ext cx="7092788" cy="1569660"/>
          </a:xfrm>
          <a:prstGeom prst="rect">
            <a:avLst/>
          </a:prstGeom>
          <a:noFill/>
          <a:ln w="9525">
            <a:noFill/>
          </a:ln>
        </p:spPr>
        <p:txBody>
          <a:bodyPr wrap="square">
            <a:spAutoFit/>
          </a:bodyPr>
          <a:lstStyle/>
          <a:p>
            <a:pPr eaLnBrk="1" hangingPunct="1">
              <a:spcBef>
                <a:spcPts val="1200"/>
              </a:spcBef>
            </a:pPr>
            <a:r>
              <a:rPr lang="zh-CN" altLang="en-US" sz="2400" b="1" dirty="0">
                <a:solidFill>
                  <a:srgbClr val="002060"/>
                </a:solidFill>
                <a:latin typeface="华文中宋" panose="02010600040101010101" pitchFamily="2" charset="-122"/>
                <a:ea typeface="华文中宋" panose="02010600040101010101" pitchFamily="2" charset="-122"/>
              </a:rPr>
              <a:t>★ 准稳态法在数据处理上用了变量代换的方法使非齐次边界条件变为齐次的，这种方法是数学上的典型方法，在应用中如解高次方程、含高次项的微分方程等都曾起过重要作用。</a:t>
            </a:r>
            <a:endParaRPr lang="zh-CN" altLang="en-US" sz="2400" b="1" dirty="0">
              <a:solidFill>
                <a:srgbClr val="000066"/>
              </a:solidFill>
              <a:latin typeface="华文中宋" panose="02010600040101010101" pitchFamily="2" charset="-122"/>
              <a:ea typeface="华文中宋" panose="02010600040101010101" pitchFamily="2" charset="-122"/>
            </a:endParaRPr>
          </a:p>
        </p:txBody>
      </p:sp>
      <p:sp>
        <p:nvSpPr>
          <p:cNvPr id="2" name="矩形 1"/>
          <p:cNvSpPr/>
          <p:nvPr/>
        </p:nvSpPr>
        <p:spPr>
          <a:xfrm>
            <a:off x="215516" y="795863"/>
            <a:ext cx="7092788" cy="1938992"/>
          </a:xfrm>
          <a:prstGeom prst="rect">
            <a:avLst/>
          </a:prstGeom>
        </p:spPr>
        <p:txBody>
          <a:bodyPr wrap="square">
            <a:spAutoFit/>
          </a:bodyPr>
          <a:lstStyle/>
          <a:p>
            <a:pPr eaLnBrk="1" hangingPunct="1">
              <a:spcBef>
                <a:spcPts val="1200"/>
              </a:spcBef>
            </a:pPr>
            <a:r>
              <a:rPr lang="zh-CN" altLang="en-US" sz="2400" b="1" dirty="0">
                <a:solidFill>
                  <a:srgbClr val="002060"/>
                </a:solidFill>
                <a:latin typeface="华文中宋" panose="02010600040101010101" pitchFamily="2" charset="-122"/>
                <a:ea typeface="华文中宋" panose="02010600040101010101" pitchFamily="2" charset="-122"/>
              </a:rPr>
              <a:t>★ 以往热导系数的测量常用稳态法，这种方法因实验条件所限，导致重复性、稳定性差。这里我们使用了一种新的测量方法</a:t>
            </a:r>
            <a:r>
              <a:rPr lang="en-US" altLang="zh-CN" sz="2400" b="1" dirty="0">
                <a:solidFill>
                  <a:srgbClr val="002060"/>
                </a:solidFill>
                <a:latin typeface="华文中宋" panose="02010600040101010101" pitchFamily="2" charset="-122"/>
                <a:ea typeface="华文中宋" panose="02010600040101010101" pitchFamily="2" charset="-122"/>
              </a:rPr>
              <a:t>——</a:t>
            </a:r>
            <a:r>
              <a:rPr lang="zh-CN" altLang="en-US" sz="2400" b="1" dirty="0">
                <a:solidFill>
                  <a:srgbClr val="002060"/>
                </a:solidFill>
                <a:latin typeface="华文中宋" panose="02010600040101010101" pitchFamily="2" charset="-122"/>
                <a:ea typeface="华文中宋" panose="02010600040101010101" pitchFamily="2" charset="-122"/>
              </a:rPr>
              <a:t>准稳态法，这种方法只要求温差恒定和升温速率恒定，而不必通过长时间加热达到稳态，就可以得到导热系数和比热。</a:t>
            </a:r>
            <a:endParaRPr lang="en-US" altLang="zh-CN" sz="2400" b="1" dirty="0">
              <a:solidFill>
                <a:srgbClr val="002060"/>
              </a:solidFill>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p:nvPr/>
        </p:nvSpPr>
        <p:spPr>
          <a:xfrm>
            <a:off x="337237" y="88325"/>
            <a:ext cx="2646878" cy="584775"/>
          </a:xfrm>
          <a:prstGeom prst="rect">
            <a:avLst/>
          </a:prstGeom>
          <a:noFill/>
          <a:ln w="9525">
            <a:noFill/>
          </a:ln>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一、实验目的</a:t>
            </a:r>
          </a:p>
        </p:txBody>
      </p:sp>
      <p:sp>
        <p:nvSpPr>
          <p:cNvPr id="5123" name="Rectangle 9"/>
          <p:cNvSpPr/>
          <p:nvPr/>
        </p:nvSpPr>
        <p:spPr>
          <a:xfrm>
            <a:off x="360860" y="1277239"/>
            <a:ext cx="8295019" cy="1691640"/>
          </a:xfrm>
          <a:prstGeom prst="rect">
            <a:avLst/>
          </a:prstGeom>
          <a:noFill/>
          <a:ln w="9525">
            <a:noFill/>
          </a:ln>
        </p:spPr>
        <p:txBody>
          <a:bodyPr wrap="square" anchor="ctr">
            <a:spAutoFit/>
          </a:bodyPr>
          <a:lstStyle/>
          <a:p>
            <a:pPr eaLnBrk="1" hangingPunct="1">
              <a:spcBef>
                <a:spcPts val="1200"/>
              </a:spcBef>
            </a:pPr>
            <a:r>
              <a:rPr lang="en-US" altLang="zh-CN" sz="2800" b="1" dirty="0">
                <a:solidFill>
                  <a:srgbClr val="002060"/>
                </a:solidFill>
                <a:latin typeface="华文中宋" panose="02010600040101010101" pitchFamily="2" charset="-122"/>
                <a:ea typeface="华文中宋" panose="02010600040101010101" pitchFamily="2" charset="-122"/>
              </a:rPr>
              <a:t>1</a:t>
            </a:r>
            <a:r>
              <a:rPr lang="zh-CN" altLang="en-US" sz="2800" b="1" dirty="0">
                <a:solidFill>
                  <a:srgbClr val="002060"/>
                </a:solidFill>
                <a:latin typeface="华文中宋" panose="02010600040101010101" pitchFamily="2" charset="-122"/>
                <a:ea typeface="华文中宋" panose="02010600040101010101" pitchFamily="2" charset="-122"/>
              </a:rPr>
              <a:t>、了解准稳态法测量导热系数和比热的原理；</a:t>
            </a:r>
          </a:p>
          <a:p>
            <a:pPr eaLnBrk="1" hangingPunct="1">
              <a:spcBef>
                <a:spcPts val="1200"/>
              </a:spcBef>
            </a:pPr>
            <a:r>
              <a:rPr lang="en-US" altLang="zh-CN" sz="2800" b="1" dirty="0">
                <a:solidFill>
                  <a:srgbClr val="002060"/>
                </a:solidFill>
                <a:latin typeface="华文中宋" panose="02010600040101010101" pitchFamily="2" charset="-122"/>
                <a:ea typeface="华文中宋" panose="02010600040101010101" pitchFamily="2" charset="-122"/>
              </a:rPr>
              <a:t>2</a:t>
            </a:r>
            <a:r>
              <a:rPr lang="zh-CN" altLang="en-US" sz="2800" b="1" dirty="0">
                <a:solidFill>
                  <a:srgbClr val="002060"/>
                </a:solidFill>
                <a:latin typeface="华文中宋" panose="02010600040101010101" pitchFamily="2" charset="-122"/>
                <a:ea typeface="华文中宋" panose="02010600040101010101" pitchFamily="2" charset="-122"/>
              </a:rPr>
              <a:t>、学习热电偶测量温度的原理和使用方法；</a:t>
            </a:r>
            <a:endParaRPr lang="en-US" altLang="zh-CN" sz="2800" b="1" dirty="0">
              <a:solidFill>
                <a:srgbClr val="002060"/>
              </a:solidFill>
              <a:latin typeface="华文中宋" panose="02010600040101010101" pitchFamily="2" charset="-122"/>
              <a:ea typeface="华文中宋" panose="02010600040101010101" pitchFamily="2" charset="-122"/>
            </a:endParaRPr>
          </a:p>
          <a:p>
            <a:pPr eaLnBrk="1" hangingPunct="1">
              <a:spcBef>
                <a:spcPts val="1200"/>
              </a:spcBef>
            </a:pPr>
            <a:r>
              <a:rPr lang="en-US" altLang="zh-CN" sz="2800" b="1" dirty="0">
                <a:solidFill>
                  <a:srgbClr val="002060"/>
                </a:solidFill>
                <a:latin typeface="华文中宋" panose="02010600040101010101" pitchFamily="2" charset="-122"/>
                <a:ea typeface="华文中宋" panose="02010600040101010101" pitchFamily="2" charset="-122"/>
              </a:rPr>
              <a:t>3</a:t>
            </a:r>
            <a:r>
              <a:rPr lang="zh-CN" altLang="en-US" sz="2800" b="1" dirty="0">
                <a:solidFill>
                  <a:srgbClr val="002060"/>
                </a:solidFill>
                <a:latin typeface="华文中宋" panose="02010600040101010101" pitchFamily="2" charset="-122"/>
                <a:ea typeface="华文中宋" panose="02010600040101010101" pitchFamily="2" charset="-122"/>
              </a:rPr>
              <a:t>、用准稳态法测量不良导体的导热系数和比热。</a:t>
            </a:r>
            <a:endParaRPr lang="en-US" altLang="zh-CN" sz="2800" b="1" dirty="0">
              <a:solidFill>
                <a:srgbClr val="000066"/>
              </a:solidFill>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46"/>
          <p:cNvSpPr/>
          <p:nvPr/>
        </p:nvSpPr>
        <p:spPr>
          <a:xfrm>
            <a:off x="233363" y="115888"/>
            <a:ext cx="6138862" cy="584775"/>
          </a:xfrm>
          <a:prstGeom prst="rect">
            <a:avLst/>
          </a:prstGeom>
          <a:noFill/>
          <a:ln w="9525">
            <a:noFill/>
          </a:ln>
        </p:spPr>
        <p:txBody>
          <a:bodyPr>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、准稳态法测量原理</a:t>
            </a:r>
          </a:p>
        </p:txBody>
      </p:sp>
      <p:sp>
        <p:nvSpPr>
          <p:cNvPr id="88" name="Rectangle 70"/>
          <p:cNvSpPr>
            <a:spLocks noChangeArrowheads="1"/>
          </p:cNvSpPr>
          <p:nvPr/>
        </p:nvSpPr>
        <p:spPr bwMode="auto">
          <a:xfrm>
            <a:off x="574556" y="979970"/>
            <a:ext cx="25394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b="1" dirty="0">
                <a:solidFill>
                  <a:srgbClr val="0000FF"/>
                </a:solidFill>
                <a:ea typeface="华文中宋" panose="02010600040101010101" pitchFamily="2" charset="-122"/>
              </a:rPr>
              <a:t>1</a:t>
            </a:r>
            <a:r>
              <a:rPr lang="zh-CN" altLang="en-US" sz="2800" b="1" dirty="0">
                <a:solidFill>
                  <a:srgbClr val="0000FF"/>
                </a:solidFill>
                <a:ea typeface="华文中宋" panose="02010600040101010101" pitchFamily="2" charset="-122"/>
              </a:rPr>
              <a:t>、模型的建立</a:t>
            </a:r>
          </a:p>
        </p:txBody>
      </p:sp>
      <p:sp>
        <p:nvSpPr>
          <p:cNvPr id="4" name="矩形 3"/>
          <p:cNvSpPr/>
          <p:nvPr/>
        </p:nvSpPr>
        <p:spPr>
          <a:xfrm>
            <a:off x="982307" y="1652908"/>
            <a:ext cx="4525797" cy="1569660"/>
          </a:xfrm>
          <a:prstGeom prst="rect">
            <a:avLst/>
          </a:prstGeom>
        </p:spPr>
        <p:txBody>
          <a:bodyPr wrap="square">
            <a:spAutoFit/>
          </a:bodyPr>
          <a:lstStyle/>
          <a:p>
            <a:r>
              <a:rPr lang="zh-CN" altLang="en-US" sz="2400" b="1" dirty="0">
                <a:solidFill>
                  <a:srgbClr val="002060"/>
                </a:solidFill>
              </a:rPr>
              <a:t>考虑右图所示的导热模型：平板厚度为</a:t>
            </a:r>
            <a:r>
              <a:rPr lang="en-US" altLang="zh-CN" sz="2400" b="1" dirty="0">
                <a:solidFill>
                  <a:srgbClr val="002060"/>
                </a:solidFill>
              </a:rPr>
              <a:t>2R</a:t>
            </a:r>
            <a:r>
              <a:rPr lang="zh-CN" altLang="en-US" sz="2400" b="1" dirty="0">
                <a:solidFill>
                  <a:srgbClr val="002060"/>
                </a:solidFill>
              </a:rPr>
              <a:t>，初始温度为</a:t>
            </a:r>
            <a:r>
              <a:rPr lang="en-US" altLang="zh-CN" sz="2400" b="1" dirty="0">
                <a:solidFill>
                  <a:srgbClr val="002060"/>
                </a:solidFill>
              </a:rPr>
              <a:t>t</a:t>
            </a:r>
            <a:r>
              <a:rPr lang="en-US" altLang="zh-CN" sz="1400" b="1" dirty="0">
                <a:solidFill>
                  <a:srgbClr val="002060"/>
                </a:solidFill>
              </a:rPr>
              <a:t>0</a:t>
            </a:r>
            <a:r>
              <a:rPr lang="zh-CN" altLang="en-US" sz="2400" b="1" dirty="0">
                <a:solidFill>
                  <a:srgbClr val="002060"/>
                </a:solidFill>
              </a:rPr>
              <a:t>，从两边向中心加热的热流密度为</a:t>
            </a:r>
            <a:r>
              <a:rPr lang="en-US" altLang="zh-CN" sz="2400" b="1" dirty="0">
                <a:solidFill>
                  <a:srgbClr val="002060"/>
                </a:solidFill>
              </a:rPr>
              <a:t>q</a:t>
            </a:r>
            <a:r>
              <a:rPr lang="en-US" altLang="zh-CN" sz="1400" b="1" dirty="0">
                <a:solidFill>
                  <a:srgbClr val="002060"/>
                </a:solidFill>
              </a:rPr>
              <a:t>c</a:t>
            </a:r>
            <a:r>
              <a:rPr lang="zh-CN" altLang="en-US" sz="2400" b="1" dirty="0">
                <a:solidFill>
                  <a:srgbClr val="002060"/>
                </a:solidFill>
              </a:rPr>
              <a:t>，</a:t>
            </a:r>
            <a:endParaRPr lang="en-US" altLang="zh-CN" sz="2400" b="1" dirty="0">
              <a:solidFill>
                <a:srgbClr val="002060"/>
              </a:solidFill>
            </a:endParaRPr>
          </a:p>
          <a:p>
            <a:r>
              <a:rPr lang="en-US" altLang="zh-CN" sz="2400" b="1" dirty="0">
                <a:solidFill>
                  <a:srgbClr val="002060"/>
                </a:solidFill>
              </a:rPr>
              <a:t>    </a:t>
            </a:r>
            <a:r>
              <a:rPr lang="zh-CN" altLang="en-US" sz="2400" b="1" dirty="0">
                <a:solidFill>
                  <a:srgbClr val="002060"/>
                </a:solidFill>
              </a:rPr>
              <a:t>为时间，则有</a:t>
            </a:r>
          </a:p>
        </p:txBody>
      </p:sp>
      <p:sp>
        <p:nvSpPr>
          <p:cNvPr id="95" name="矩形 94"/>
          <p:cNvSpPr/>
          <p:nvPr/>
        </p:nvSpPr>
        <p:spPr>
          <a:xfrm>
            <a:off x="75044" y="3579314"/>
            <a:ext cx="248786" cy="369332"/>
          </a:xfrm>
          <a:prstGeom prst="rect">
            <a:avLst/>
          </a:prstGeom>
        </p:spPr>
        <p:txBody>
          <a:bodyPr wrap="none">
            <a:spAutoFit/>
          </a:bodyPr>
          <a:lstStyle/>
          <a:p>
            <a:r>
              <a:rPr lang="zh-CN" altLang="en-US" b="1" dirty="0">
                <a:solidFill>
                  <a:srgbClr val="002060"/>
                </a:solidFill>
              </a:rPr>
              <a:t> </a:t>
            </a:r>
          </a:p>
        </p:txBody>
      </p:sp>
      <p:sp>
        <p:nvSpPr>
          <p:cNvPr id="97" name="Rectangle 72"/>
          <p:cNvSpPr>
            <a:spLocks noChangeArrowheads="1"/>
          </p:cNvSpPr>
          <p:nvPr/>
        </p:nvSpPr>
        <p:spPr bwMode="auto">
          <a:xfrm>
            <a:off x="4798740" y="4909013"/>
            <a:ext cx="344566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第一个式子为热传导方程，其余</a:t>
            </a:r>
            <a:r>
              <a:rPr lang="en-US" altLang="zh-CN"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3</a:t>
            </a:r>
            <a:r>
              <a:rPr lang="zh-CN" altLang="en-US"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个为边条件</a:t>
            </a:r>
            <a:endParaRPr lang="en-US" altLang="zh-CN" sz="20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5424358" y="1035502"/>
            <a:ext cx="3168352" cy="3656016"/>
          </a:xfrm>
          <a:prstGeom prst="rect">
            <a:avLst/>
          </a:prstGeom>
        </p:spPr>
      </p:pic>
      <p:pic>
        <p:nvPicPr>
          <p:cNvPr id="9" name="图片 8"/>
          <p:cNvPicPr>
            <a:picLocks noChangeAspect="1"/>
          </p:cNvPicPr>
          <p:nvPr/>
        </p:nvPicPr>
        <p:blipFill>
          <a:blip r:embed="rId4"/>
          <a:stretch>
            <a:fillRect/>
          </a:stretch>
        </p:blipFill>
        <p:spPr>
          <a:xfrm>
            <a:off x="535650" y="3286580"/>
            <a:ext cx="4219575" cy="2809875"/>
          </a:xfrm>
          <a:prstGeom prst="rect">
            <a:avLst/>
          </a:prstGeom>
        </p:spPr>
      </p:pic>
      <p:pic>
        <p:nvPicPr>
          <p:cNvPr id="19" name="图片 18"/>
          <p:cNvPicPr>
            <a:picLocks noChangeAspect="1"/>
          </p:cNvPicPr>
          <p:nvPr/>
        </p:nvPicPr>
        <p:blipFill>
          <a:blip r:embed="rId5"/>
          <a:stretch>
            <a:fillRect/>
          </a:stretch>
        </p:blipFill>
        <p:spPr>
          <a:xfrm>
            <a:off x="1187624" y="2863510"/>
            <a:ext cx="161925" cy="238125"/>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6"/>
          <p:cNvSpPr/>
          <p:nvPr/>
        </p:nvSpPr>
        <p:spPr>
          <a:xfrm>
            <a:off x="233362" y="115888"/>
            <a:ext cx="7651005" cy="584775"/>
          </a:xfrm>
          <a:prstGeom prst="rect">
            <a:avLst/>
          </a:prstGeom>
          <a:noFill/>
          <a:ln w="9525">
            <a:noFill/>
          </a:ln>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、准稳态法测量原理</a:t>
            </a:r>
          </a:p>
        </p:txBody>
      </p:sp>
      <p:sp>
        <p:nvSpPr>
          <p:cNvPr id="33" name="Text Box 69"/>
          <p:cNvSpPr txBox="1">
            <a:spLocks noChangeArrowheads="1"/>
          </p:cNvSpPr>
          <p:nvPr/>
        </p:nvSpPr>
        <p:spPr bwMode="auto">
          <a:xfrm>
            <a:off x="611560" y="957044"/>
            <a:ext cx="576542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800" b="1" dirty="0">
                <a:solidFill>
                  <a:srgbClr val="0000FF"/>
                </a:solidFill>
                <a:ea typeface="华文中宋" panose="02010600040101010101" pitchFamily="2" charset="-122"/>
              </a:rPr>
              <a:t>2</a:t>
            </a:r>
            <a:r>
              <a:rPr lang="zh-CN" altLang="en-US" sz="2800" b="1" dirty="0">
                <a:solidFill>
                  <a:srgbClr val="0000FF"/>
                </a:solidFill>
                <a:ea typeface="华文中宋" panose="02010600040101010101" pitchFamily="2" charset="-122"/>
              </a:rPr>
              <a:t>、方程的解及比热导热系数的计算</a:t>
            </a:r>
          </a:p>
        </p:txBody>
      </p:sp>
      <p:sp>
        <p:nvSpPr>
          <p:cNvPr id="34" name="Rectangle 70"/>
          <p:cNvSpPr>
            <a:spLocks noChangeArrowheads="1"/>
          </p:cNvSpPr>
          <p:nvPr/>
        </p:nvSpPr>
        <p:spPr bwMode="auto">
          <a:xfrm>
            <a:off x="646624" y="1485861"/>
            <a:ext cx="6647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通过变量代换使边条件齐次化后可得方程的解为</a:t>
            </a:r>
          </a:p>
        </p:txBody>
      </p:sp>
      <p:sp>
        <p:nvSpPr>
          <p:cNvPr id="35" name="Rectangle 71"/>
          <p:cNvSpPr>
            <a:spLocks noChangeArrowheads="1"/>
          </p:cNvSpPr>
          <p:nvPr/>
        </p:nvSpPr>
        <p:spPr bwMode="auto">
          <a:xfrm>
            <a:off x="646624" y="3035946"/>
            <a:ext cx="35702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忽略指数衰减的级数项后</a:t>
            </a:r>
          </a:p>
        </p:txBody>
      </p:sp>
      <p:sp>
        <p:nvSpPr>
          <p:cNvPr id="36" name="Rectangle 72"/>
          <p:cNvSpPr>
            <a:spLocks noChangeArrowheads="1"/>
          </p:cNvSpPr>
          <p:nvPr/>
        </p:nvSpPr>
        <p:spPr bwMode="auto">
          <a:xfrm>
            <a:off x="742035" y="3812004"/>
            <a:ext cx="163057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中心处</a:t>
            </a:r>
            <a:r>
              <a:rPr lang="en-US" altLang="zh-CN" sz="2400" b="1" dirty="0">
                <a:solidFill>
                  <a:srgbClr val="000066"/>
                </a:solidFill>
                <a:ea typeface="华文中宋" panose="02010600040101010101" pitchFamily="2" charset="-122"/>
              </a:rPr>
              <a:t>x=0</a:t>
            </a:r>
            <a:endParaRPr lang="zh-CN" altLang="en-US" sz="2400" b="1" dirty="0">
              <a:solidFill>
                <a:srgbClr val="000066"/>
              </a:solidFill>
              <a:ea typeface="华文中宋" panose="02010600040101010101" pitchFamily="2" charset="-122"/>
            </a:endParaRPr>
          </a:p>
        </p:txBody>
      </p:sp>
      <p:pic>
        <p:nvPicPr>
          <p:cNvPr id="2" name="图片 1"/>
          <p:cNvPicPr>
            <a:picLocks noChangeAspect="1"/>
          </p:cNvPicPr>
          <p:nvPr/>
        </p:nvPicPr>
        <p:blipFill>
          <a:blip r:embed="rId3"/>
          <a:stretch>
            <a:fillRect/>
          </a:stretch>
        </p:blipFill>
        <p:spPr>
          <a:xfrm>
            <a:off x="395536" y="1947526"/>
            <a:ext cx="8617468" cy="961211"/>
          </a:xfrm>
          <a:prstGeom prst="rect">
            <a:avLst/>
          </a:prstGeom>
        </p:spPr>
      </p:pic>
      <p:pic>
        <p:nvPicPr>
          <p:cNvPr id="4" name="图片 3"/>
          <p:cNvPicPr>
            <a:picLocks noChangeAspect="1"/>
          </p:cNvPicPr>
          <p:nvPr/>
        </p:nvPicPr>
        <p:blipFill>
          <a:blip r:embed="rId4"/>
          <a:stretch>
            <a:fillRect/>
          </a:stretch>
        </p:blipFill>
        <p:spPr>
          <a:xfrm>
            <a:off x="4381500" y="2795290"/>
            <a:ext cx="3990975" cy="942975"/>
          </a:xfrm>
          <a:prstGeom prst="rect">
            <a:avLst/>
          </a:prstGeom>
        </p:spPr>
      </p:pic>
      <p:pic>
        <p:nvPicPr>
          <p:cNvPr id="37" name="图片 36"/>
          <p:cNvPicPr>
            <a:picLocks noChangeAspect="1"/>
          </p:cNvPicPr>
          <p:nvPr/>
        </p:nvPicPr>
        <p:blipFill>
          <a:blip r:embed="rId5"/>
          <a:stretch>
            <a:fillRect/>
          </a:stretch>
        </p:blipFill>
        <p:spPr>
          <a:xfrm>
            <a:off x="2703648" y="3597043"/>
            <a:ext cx="3638550" cy="923925"/>
          </a:xfrm>
          <a:prstGeom prst="rect">
            <a:avLst/>
          </a:prstGeom>
        </p:spPr>
      </p:pic>
      <p:pic>
        <p:nvPicPr>
          <p:cNvPr id="38" name="图片 37"/>
          <p:cNvPicPr>
            <a:picLocks noChangeAspect="1"/>
          </p:cNvPicPr>
          <p:nvPr/>
        </p:nvPicPr>
        <p:blipFill>
          <a:blip r:embed="rId6"/>
          <a:stretch>
            <a:fillRect/>
          </a:stretch>
        </p:blipFill>
        <p:spPr>
          <a:xfrm>
            <a:off x="2745960" y="4612800"/>
            <a:ext cx="3562350" cy="990600"/>
          </a:xfrm>
          <a:prstGeom prst="rect">
            <a:avLst/>
          </a:prstGeom>
        </p:spPr>
      </p:pic>
      <p:sp>
        <p:nvSpPr>
          <p:cNvPr id="39" name="Rectangle 72"/>
          <p:cNvSpPr>
            <a:spLocks noChangeArrowheads="1"/>
          </p:cNvSpPr>
          <p:nvPr/>
        </p:nvSpPr>
        <p:spPr bwMode="auto">
          <a:xfrm>
            <a:off x="742035" y="4877267"/>
            <a:ext cx="198964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solidFill>
                  <a:srgbClr val="000066"/>
                </a:solidFill>
                <a:ea typeface="华文中宋" panose="02010600040101010101" pitchFamily="2" charset="-122"/>
              </a:rPr>
              <a:t>加热面处</a:t>
            </a:r>
            <a:r>
              <a:rPr lang="en-US" altLang="zh-CN" sz="2400" b="1" dirty="0">
                <a:solidFill>
                  <a:srgbClr val="000066"/>
                </a:solidFill>
                <a:ea typeface="华文中宋" panose="02010600040101010101" pitchFamily="2" charset="-122"/>
              </a:rPr>
              <a:t>x=R</a:t>
            </a:r>
            <a:endParaRPr lang="zh-CN" altLang="en-US" sz="2400" b="1" dirty="0">
              <a:solidFill>
                <a:srgbClr val="000066"/>
              </a:solidFill>
              <a:ea typeface="华文中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down)">
                                      <p:cBhvr>
                                        <p:cTn id="12" dur="500"/>
                                        <p:tgtEl>
                                          <p:spTgt spid="34"/>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down)">
                                      <p:cBhvr>
                                        <p:cTn id="15" dur="500"/>
                                        <p:tgtEl>
                                          <p:spTgt spid="3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down)">
                                      <p:cBhvr>
                                        <p:cTn id="18" dur="500"/>
                                        <p:tgtEl>
                                          <p:spTgt spid="36"/>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down)">
                                      <p:cBhvr>
                                        <p:cTn id="2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p:bldP spid="36"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84"/>
          <p:cNvSpPr/>
          <p:nvPr/>
        </p:nvSpPr>
        <p:spPr>
          <a:xfrm>
            <a:off x="2195513" y="1557338"/>
            <a:ext cx="9144000" cy="0"/>
          </a:xfrm>
          <a:prstGeom prst="rect">
            <a:avLst/>
          </a:prstGeom>
          <a:noFill/>
          <a:ln w="9525">
            <a:noFill/>
          </a:ln>
        </p:spPr>
        <p:txBody>
          <a:bodyPr wrap="none" anchor="ctr">
            <a:spAutoFit/>
          </a:bodyPr>
          <a:lstStyle/>
          <a:p>
            <a:pPr eaLnBrk="1" hangingPunct="1"/>
            <a:endParaRPr lang="zh-CN" altLang="en-US" dirty="0">
              <a:latin typeface="Arial" panose="020B0604020202020204" pitchFamily="34" charset="0"/>
            </a:endParaRPr>
          </a:p>
        </p:txBody>
      </p:sp>
      <p:sp>
        <p:nvSpPr>
          <p:cNvPr id="89" name="Rectangle 5"/>
          <p:cNvSpPr>
            <a:spLocks noChangeArrowheads="1"/>
          </p:cNvSpPr>
          <p:nvPr/>
        </p:nvSpPr>
        <p:spPr bwMode="auto">
          <a:xfrm>
            <a:off x="832800" y="1326505"/>
            <a:ext cx="272542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华文中宋" panose="02010600040101010101" pitchFamily="2" charset="-122"/>
                <a:ea typeface="华文中宋" panose="02010600040101010101" pitchFamily="2" charset="-122"/>
                <a:cs typeface="Times New Roman" panose="02020603050405020304" pitchFamily="18" charset="0"/>
              </a:rPr>
              <a:t>比较以上两式可得</a:t>
            </a:r>
            <a:endPar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Rectangle 46"/>
          <p:cNvSpPr/>
          <p:nvPr/>
        </p:nvSpPr>
        <p:spPr>
          <a:xfrm>
            <a:off x="233362" y="115888"/>
            <a:ext cx="7651005" cy="584775"/>
          </a:xfrm>
          <a:prstGeom prst="rect">
            <a:avLst/>
          </a:prstGeom>
          <a:noFill/>
          <a:ln w="9525">
            <a:noFill/>
          </a:ln>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、准稳态法测量原理</a:t>
            </a:r>
          </a:p>
        </p:txBody>
      </p:sp>
      <p:pic>
        <p:nvPicPr>
          <p:cNvPr id="2" name="图片 1"/>
          <p:cNvPicPr>
            <a:picLocks noChangeAspect="1"/>
          </p:cNvPicPr>
          <p:nvPr/>
        </p:nvPicPr>
        <p:blipFill>
          <a:blip r:embed="rId3"/>
          <a:stretch>
            <a:fillRect/>
          </a:stretch>
        </p:blipFill>
        <p:spPr>
          <a:xfrm>
            <a:off x="4788024" y="1124744"/>
            <a:ext cx="1455938" cy="1076660"/>
          </a:xfrm>
          <a:prstGeom prst="rect">
            <a:avLst/>
          </a:prstGeom>
        </p:spPr>
      </p:pic>
      <p:pic>
        <p:nvPicPr>
          <p:cNvPr id="3" name="图片 2"/>
          <p:cNvPicPr>
            <a:picLocks noChangeAspect="1"/>
          </p:cNvPicPr>
          <p:nvPr/>
        </p:nvPicPr>
        <p:blipFill>
          <a:blip r:embed="rId4"/>
          <a:stretch>
            <a:fillRect/>
          </a:stretch>
        </p:blipFill>
        <p:spPr>
          <a:xfrm>
            <a:off x="4355976" y="2490183"/>
            <a:ext cx="2271496" cy="913975"/>
          </a:xfrm>
          <a:prstGeom prst="rect">
            <a:avLst/>
          </a:prstGeom>
        </p:spPr>
      </p:pic>
      <p:sp>
        <p:nvSpPr>
          <p:cNvPr id="31" name="Rectangle 5"/>
          <p:cNvSpPr>
            <a:spLocks noChangeArrowheads="1"/>
          </p:cNvSpPr>
          <p:nvPr/>
        </p:nvSpPr>
        <p:spPr bwMode="auto">
          <a:xfrm>
            <a:off x="871370" y="2414012"/>
            <a:ext cx="272542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由热流的定义（流入多少热量则温度升高多少）知</a:t>
            </a:r>
          </a:p>
        </p:txBody>
      </p:sp>
      <p:sp>
        <p:nvSpPr>
          <p:cNvPr id="32" name="Rectangle 5"/>
          <p:cNvSpPr>
            <a:spLocks noChangeArrowheads="1"/>
          </p:cNvSpPr>
          <p:nvPr/>
        </p:nvSpPr>
        <p:spPr bwMode="auto">
          <a:xfrm>
            <a:off x="1929374" y="4254024"/>
            <a:ext cx="5322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即</a:t>
            </a:r>
          </a:p>
        </p:txBody>
      </p:sp>
      <p:pic>
        <p:nvPicPr>
          <p:cNvPr id="4" name="图片 3"/>
          <p:cNvPicPr>
            <a:picLocks noChangeAspect="1"/>
          </p:cNvPicPr>
          <p:nvPr/>
        </p:nvPicPr>
        <p:blipFill>
          <a:blip r:embed="rId5"/>
          <a:stretch>
            <a:fillRect/>
          </a:stretch>
        </p:blipFill>
        <p:spPr>
          <a:xfrm>
            <a:off x="4571999" y="3684552"/>
            <a:ext cx="1944217" cy="151624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Rectangle 46"/>
          <p:cNvSpPr/>
          <p:nvPr/>
        </p:nvSpPr>
        <p:spPr>
          <a:xfrm>
            <a:off x="233362" y="115888"/>
            <a:ext cx="7651005" cy="584775"/>
          </a:xfrm>
          <a:prstGeom prst="rect">
            <a:avLst/>
          </a:prstGeom>
          <a:noFill/>
          <a:ln w="9525">
            <a:noFill/>
          </a:ln>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二、实验原理</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2.2</a:t>
            </a:r>
            <a:r>
              <a:rPr lang="zh-CN" altLang="en-US" sz="2400" b="1" dirty="0">
                <a:solidFill>
                  <a:srgbClr val="006666"/>
                </a:solidFill>
                <a:latin typeface="微软雅黑" panose="020B0503020204020204" pitchFamily="34" charset="-122"/>
                <a:ea typeface="微软雅黑" panose="020B0503020204020204" pitchFamily="34" charset="-122"/>
              </a:rPr>
              <a:t>、热电偶的工作原理</a:t>
            </a:r>
          </a:p>
        </p:txBody>
      </p:sp>
      <p:pic>
        <p:nvPicPr>
          <p:cNvPr id="2" name="图片 1"/>
          <p:cNvPicPr>
            <a:picLocks noChangeAspect="1"/>
          </p:cNvPicPr>
          <p:nvPr/>
        </p:nvPicPr>
        <p:blipFill>
          <a:blip r:embed="rId3"/>
          <a:stretch>
            <a:fillRect/>
          </a:stretch>
        </p:blipFill>
        <p:spPr>
          <a:xfrm>
            <a:off x="3203848" y="3140968"/>
            <a:ext cx="2886075" cy="1685925"/>
          </a:xfrm>
          <a:prstGeom prst="rect">
            <a:avLst/>
          </a:prstGeom>
        </p:spPr>
      </p:pic>
      <p:sp>
        <p:nvSpPr>
          <p:cNvPr id="271" name="Rectangle 5"/>
          <p:cNvSpPr>
            <a:spLocks noChangeArrowheads="1"/>
          </p:cNvSpPr>
          <p:nvPr/>
        </p:nvSpPr>
        <p:spPr bwMode="auto">
          <a:xfrm>
            <a:off x="1158280" y="1196752"/>
            <a:ext cx="633670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热电效应：</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当两根不同材料的金属丝并联，一端置于冷端，一端置于热端时会产生电势差</a:t>
            </a:r>
          </a:p>
        </p:txBody>
      </p:sp>
      <p:sp>
        <p:nvSpPr>
          <p:cNvPr id="272" name="Rectangle 5"/>
          <p:cNvSpPr>
            <a:spLocks noChangeArrowheads="1"/>
          </p:cNvSpPr>
          <p:nvPr/>
        </p:nvSpPr>
        <p:spPr bwMode="auto">
          <a:xfrm>
            <a:off x="2461652" y="4002970"/>
            <a:ext cx="8862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冷端</a:t>
            </a:r>
          </a:p>
        </p:txBody>
      </p:sp>
      <p:sp>
        <p:nvSpPr>
          <p:cNvPr id="273" name="Rectangle 5"/>
          <p:cNvSpPr>
            <a:spLocks noChangeArrowheads="1"/>
          </p:cNvSpPr>
          <p:nvPr/>
        </p:nvSpPr>
        <p:spPr bwMode="auto">
          <a:xfrm>
            <a:off x="5945907" y="4030532"/>
            <a:ext cx="8862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热端</a:t>
            </a:r>
          </a:p>
        </p:txBody>
      </p:sp>
      <p:sp>
        <p:nvSpPr>
          <p:cNvPr id="274" name="Rectangle 5"/>
          <p:cNvSpPr>
            <a:spLocks noChangeArrowheads="1"/>
          </p:cNvSpPr>
          <p:nvPr/>
        </p:nvSpPr>
        <p:spPr bwMode="auto">
          <a:xfrm>
            <a:off x="5574809" y="3058932"/>
            <a:ext cx="12573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金属</a:t>
            </a:r>
            <a:r>
              <a:rPr lang="en-US" altLang="zh-CN"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1</a:t>
            </a:r>
            <a:endPar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5" name="Rectangle 5"/>
          <p:cNvSpPr>
            <a:spLocks noChangeArrowheads="1"/>
          </p:cNvSpPr>
          <p:nvPr/>
        </p:nvSpPr>
        <p:spPr bwMode="auto">
          <a:xfrm>
            <a:off x="5574809" y="5105995"/>
            <a:ext cx="12573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金属</a:t>
            </a:r>
            <a:r>
              <a:rPr lang="en-US" altLang="zh-CN"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2</a:t>
            </a:r>
            <a:endParaRPr lang="zh-CN" altLang="en-US" sz="24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cxnSp>
        <p:nvCxnSpPr>
          <p:cNvPr id="4" name="直接箭头连接符 3"/>
          <p:cNvCxnSpPr/>
          <p:nvPr/>
        </p:nvCxnSpPr>
        <p:spPr>
          <a:xfrm flipH="1">
            <a:off x="5483007" y="3568814"/>
            <a:ext cx="371098" cy="340451"/>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276" name="直接箭头连接符 275"/>
          <p:cNvCxnSpPr/>
          <p:nvPr/>
        </p:nvCxnSpPr>
        <p:spPr>
          <a:xfrm flipH="1" flipV="1">
            <a:off x="5574809" y="4668990"/>
            <a:ext cx="281241" cy="357566"/>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p:nvPr/>
        </p:nvSpPr>
        <p:spPr>
          <a:xfrm>
            <a:off x="250825" y="136444"/>
            <a:ext cx="2646878" cy="584775"/>
          </a:xfrm>
          <a:prstGeom prst="rect">
            <a:avLst/>
          </a:prstGeom>
          <a:noFill/>
          <a:ln w="9525">
            <a:noFill/>
          </a:ln>
        </p:spPr>
        <p:txBody>
          <a:bodyPr wrap="none" anchor="ctr">
            <a:spAutoFit/>
          </a:bodyPr>
          <a:lstStyle/>
          <a:p>
            <a:pPr algn="l"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三、实验仪器</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1628800"/>
            <a:ext cx="7000875" cy="3095625"/>
          </a:xfrm>
          <a:prstGeom prst="rect">
            <a:avLst/>
          </a:prstGeom>
        </p:spPr>
      </p:pic>
      <p:sp>
        <p:nvSpPr>
          <p:cNvPr id="24" name="Rectangle 5"/>
          <p:cNvSpPr>
            <a:spLocks noChangeArrowheads="1"/>
          </p:cNvSpPr>
          <p:nvPr/>
        </p:nvSpPr>
        <p:spPr bwMode="auto">
          <a:xfrm>
            <a:off x="2499866" y="966323"/>
            <a:ext cx="11521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实验仪</a:t>
            </a:r>
          </a:p>
        </p:txBody>
      </p:sp>
      <p:sp>
        <p:nvSpPr>
          <p:cNvPr id="25" name="Rectangle 5"/>
          <p:cNvSpPr>
            <a:spLocks noChangeArrowheads="1"/>
          </p:cNvSpPr>
          <p:nvPr/>
        </p:nvSpPr>
        <p:spPr bwMode="auto">
          <a:xfrm>
            <a:off x="4525650" y="960555"/>
            <a:ext cx="11521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杜瓦瓶</a:t>
            </a:r>
          </a:p>
        </p:txBody>
      </p:sp>
      <p:sp>
        <p:nvSpPr>
          <p:cNvPr id="26" name="Rectangle 5"/>
          <p:cNvSpPr>
            <a:spLocks noChangeArrowheads="1"/>
          </p:cNvSpPr>
          <p:nvPr/>
        </p:nvSpPr>
        <p:spPr bwMode="auto">
          <a:xfrm>
            <a:off x="5660772" y="960555"/>
            <a:ext cx="144016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加热样品</a:t>
            </a:r>
          </a:p>
        </p:txBody>
      </p:sp>
      <p:sp>
        <p:nvSpPr>
          <p:cNvPr id="5" name="下箭头 4"/>
          <p:cNvSpPr/>
          <p:nvPr/>
        </p:nvSpPr>
        <p:spPr>
          <a:xfrm>
            <a:off x="3059832" y="1372300"/>
            <a:ext cx="144016" cy="194609"/>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7" name="下箭头 26"/>
          <p:cNvSpPr/>
          <p:nvPr/>
        </p:nvSpPr>
        <p:spPr>
          <a:xfrm>
            <a:off x="5138462" y="1384837"/>
            <a:ext cx="144016" cy="194609"/>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8" name="下箭头 27"/>
          <p:cNvSpPr/>
          <p:nvPr/>
        </p:nvSpPr>
        <p:spPr>
          <a:xfrm>
            <a:off x="6205009" y="1387181"/>
            <a:ext cx="144016" cy="194609"/>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p:nvPr/>
        </p:nvSpPr>
        <p:spPr>
          <a:xfrm>
            <a:off x="250825" y="151319"/>
            <a:ext cx="4846198" cy="584775"/>
          </a:xfrm>
          <a:prstGeom prst="rect">
            <a:avLst/>
          </a:prstGeom>
          <a:noFill/>
          <a:ln w="9525">
            <a:noFill/>
          </a:ln>
        </p:spPr>
        <p:txBody>
          <a:bodyPr wrap="none" anchor="ctr">
            <a:spAutoFit/>
          </a:bodyPr>
          <a:lstStyle/>
          <a:p>
            <a:pPr algn="l"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四、实验步骤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sym typeface="+mn-ea"/>
              </a:rPr>
              <a:t>4.1</a:t>
            </a:r>
            <a:r>
              <a:rPr lang="zh-CN" altLang="en-US" sz="2400" b="1" dirty="0">
                <a:solidFill>
                  <a:srgbClr val="006666"/>
                </a:solidFill>
                <a:latin typeface="微软雅黑" panose="020B0503020204020204" pitchFamily="34" charset="-122"/>
                <a:ea typeface="微软雅黑" panose="020B0503020204020204" pitchFamily="34" charset="-122"/>
                <a:sym typeface="+mn-ea"/>
              </a:rPr>
              <a:t>、连接线路</a:t>
            </a:r>
            <a:endParaRPr lang="zh-CN" altLang="en-US" sz="3200" b="1" dirty="0">
              <a:solidFill>
                <a:srgbClr val="FF0000"/>
              </a:solidFill>
              <a:latin typeface="微软雅黑" panose="020B0503020204020204" pitchFamily="34" charset="-122"/>
              <a:ea typeface="微软雅黑" panose="020B0503020204020204" pitchFamily="34" charset="-122"/>
            </a:endParaRPr>
          </a:p>
        </p:txBody>
      </p:sp>
      <p:sp>
        <p:nvSpPr>
          <p:cNvPr id="10" name="Rectangle 76"/>
          <p:cNvSpPr>
            <a:spLocks noChangeArrowheads="1"/>
          </p:cNvSpPr>
          <p:nvPr/>
        </p:nvSpPr>
        <p:spPr bwMode="auto">
          <a:xfrm>
            <a:off x="286316" y="1237644"/>
            <a:ext cx="87610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b="1" dirty="0">
                <a:solidFill>
                  <a:srgbClr val="000066"/>
                </a:solidFill>
                <a:latin typeface="华文中宋" panose="02010600040101010101" pitchFamily="2" charset="-122"/>
                <a:ea typeface="华文中宋" panose="02010600040101010101" pitchFamily="2" charset="-122"/>
              </a:rPr>
              <a:t>    </a:t>
            </a:r>
            <a:r>
              <a:rPr lang="zh-CN" altLang="en-US" sz="2400" b="1" dirty="0">
                <a:solidFill>
                  <a:srgbClr val="000066"/>
                </a:solidFill>
                <a:latin typeface="华文中宋" panose="02010600040101010101" pitchFamily="2" charset="-122"/>
                <a:ea typeface="华文中宋" panose="02010600040101010101" pitchFamily="2" charset="-122"/>
              </a:rPr>
              <a:t>给杜瓦瓶加满水后，连接好电路</a:t>
            </a:r>
          </a:p>
        </p:txBody>
      </p:sp>
      <p:pic>
        <p:nvPicPr>
          <p:cNvPr id="2" name="图片 1"/>
          <p:cNvPicPr>
            <a:picLocks noChangeAspect="1"/>
          </p:cNvPicPr>
          <p:nvPr/>
        </p:nvPicPr>
        <p:blipFill>
          <a:blip r:embed="rId2"/>
          <a:stretch>
            <a:fillRect/>
          </a:stretch>
        </p:blipFill>
        <p:spPr>
          <a:xfrm>
            <a:off x="1841427" y="2060848"/>
            <a:ext cx="5650842" cy="3189351"/>
          </a:xfrm>
          <a:prstGeom prst="rect">
            <a:avLst/>
          </a:prstGeom>
        </p:spPr>
      </p:pic>
      <p:sp>
        <p:nvSpPr>
          <p:cNvPr id="8" name="Rectangle 76"/>
          <p:cNvSpPr>
            <a:spLocks noChangeArrowheads="1"/>
          </p:cNvSpPr>
          <p:nvPr/>
        </p:nvSpPr>
        <p:spPr bwMode="auto">
          <a:xfrm>
            <a:off x="3203848" y="5268643"/>
            <a:ext cx="1893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b="1" dirty="0">
                <a:solidFill>
                  <a:srgbClr val="000066"/>
                </a:solidFill>
                <a:latin typeface="华文中宋" panose="02010600040101010101" pitchFamily="2" charset="-122"/>
                <a:ea typeface="华文中宋" panose="02010600040101010101" pitchFamily="2" charset="-122"/>
              </a:rPr>
              <a:t>连线示意图</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p:nvPr/>
        </p:nvSpPr>
        <p:spPr>
          <a:xfrm>
            <a:off x="250825" y="151319"/>
            <a:ext cx="5153975"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四、实验步骤</a:t>
            </a:r>
            <a:r>
              <a:rPr lang="en-US" altLang="zh-CN" sz="32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006666"/>
                </a:solidFill>
                <a:latin typeface="微软雅黑" panose="020B0503020204020204" pitchFamily="34" charset="-122"/>
                <a:ea typeface="微软雅黑" panose="020B0503020204020204" pitchFamily="34" charset="-122"/>
              </a:rPr>
              <a:t>4.2</a:t>
            </a:r>
            <a:r>
              <a:rPr lang="zh-CN" altLang="en-US" sz="2400" b="1" dirty="0">
                <a:solidFill>
                  <a:srgbClr val="006666"/>
                </a:solidFill>
                <a:latin typeface="微软雅黑" panose="020B0503020204020204" pitchFamily="34" charset="-122"/>
                <a:ea typeface="微软雅黑" panose="020B0503020204020204" pitchFamily="34" charset="-122"/>
              </a:rPr>
              <a:t>、给样品加热</a:t>
            </a:r>
          </a:p>
        </p:txBody>
      </p:sp>
      <p:sp>
        <p:nvSpPr>
          <p:cNvPr id="9" name="Rectangle 5"/>
          <p:cNvSpPr>
            <a:spLocks noChangeArrowheads="1"/>
          </p:cNvSpPr>
          <p:nvPr/>
        </p:nvSpPr>
        <p:spPr bwMode="auto">
          <a:xfrm>
            <a:off x="1158280" y="1196752"/>
            <a:ext cx="6582072"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、打开电源，按“开始</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暂停”键开始加热；</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、调节“加热电压”旋钮至电压为</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18.00V</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、加热</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30</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分钟后按“开始</a:t>
            </a:r>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暂停”键停止加热；</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、按上下翻按钮读取数据；</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、记下两个玻璃样品上的电阻值；</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6</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、关闭电源；</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7</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、旋松玻璃样品让其散热；</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不然会影响后面的老师上课！！）</a:t>
            </a:r>
            <a:endPar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a:p>
            <a:r>
              <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8</a:t>
            </a:r>
            <a:r>
              <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rPr>
              <a:t>、拆下导线。</a:t>
            </a:r>
            <a:endParaRPr lang="en-US" altLang="zh-CN"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a:p>
            <a:endParaRPr lang="zh-CN" altLang="en-US" sz="2400" b="1" dirty="0">
              <a:solidFill>
                <a:srgbClr val="000066"/>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p:nvPr/>
        </p:nvSpPr>
        <p:spPr>
          <a:xfrm>
            <a:off x="323850" y="116394"/>
            <a:ext cx="2480166"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五  数据处理</a:t>
            </a:r>
          </a:p>
        </p:txBody>
      </p:sp>
      <p:sp>
        <p:nvSpPr>
          <p:cNvPr id="21" name="矩形 20"/>
          <p:cNvSpPr/>
          <p:nvPr/>
        </p:nvSpPr>
        <p:spPr>
          <a:xfrm>
            <a:off x="107504" y="1052736"/>
            <a:ext cx="7750447" cy="461665"/>
          </a:xfrm>
          <a:prstGeom prst="rect">
            <a:avLst/>
          </a:prstGeom>
        </p:spPr>
        <p:txBody>
          <a:bodyPr wrap="square">
            <a:spAutoFit/>
          </a:bodyPr>
          <a:lstStyle/>
          <a:p>
            <a:pPr marL="227965" marR="0" lvl="0" indent="-151765" algn="just" defTabSz="914400" rtl="0" eaLnBrk="1" fontAlgn="base" latinLnBrk="0" hangingPunct="1">
              <a:lnSpc>
                <a:spcPct val="100000"/>
              </a:lnSpc>
              <a:spcBef>
                <a:spcPct val="0"/>
              </a:spcBef>
              <a:spcAft>
                <a:spcPts val="0"/>
              </a:spcAft>
              <a:buClrTx/>
              <a:buSzTx/>
              <a:buFontTx/>
              <a:buNone/>
              <a:defRPr/>
            </a:pPr>
            <a:r>
              <a:rPr lang="en-US" altLang="zh-CN" sz="2400" b="1" dirty="0">
                <a:solidFill>
                  <a:srgbClr val="006666"/>
                </a:solidFill>
                <a:latin typeface="微软雅黑" panose="020B0503020204020204" pitchFamily="34" charset="-122"/>
                <a:ea typeface="微软雅黑" panose="020B0503020204020204" pitchFamily="34" charset="-122"/>
              </a:rPr>
              <a:t>1</a:t>
            </a:r>
            <a:r>
              <a:rPr lang="zh-CN"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用公式计算计算热流密度；</a:t>
            </a:r>
            <a:endParaRPr lang="zh-CN" altLang="zh-CN" sz="2400" b="1" dirty="0">
              <a:solidFill>
                <a:srgbClr val="006666"/>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971600" y="1865968"/>
            <a:ext cx="2924478" cy="1101268"/>
          </a:xfrm>
          <a:prstGeom prst="rect">
            <a:avLst/>
          </a:prstGeom>
        </p:spPr>
      </p:pic>
      <p:pic>
        <p:nvPicPr>
          <p:cNvPr id="4" name="图片 3"/>
          <p:cNvPicPr>
            <a:picLocks noChangeAspect="1"/>
          </p:cNvPicPr>
          <p:nvPr/>
        </p:nvPicPr>
        <p:blipFill>
          <a:blip r:embed="rId3"/>
          <a:stretch>
            <a:fillRect/>
          </a:stretch>
        </p:blipFill>
        <p:spPr>
          <a:xfrm>
            <a:off x="2804016" y="4232628"/>
            <a:ext cx="2077728" cy="359830"/>
          </a:xfrm>
          <a:prstGeom prst="rect">
            <a:avLst/>
          </a:prstGeom>
        </p:spPr>
      </p:pic>
      <p:pic>
        <p:nvPicPr>
          <p:cNvPr id="5" name="图片 4"/>
          <p:cNvPicPr>
            <a:picLocks noChangeAspect="1"/>
          </p:cNvPicPr>
          <p:nvPr/>
        </p:nvPicPr>
        <p:blipFill>
          <a:blip r:embed="rId4"/>
          <a:stretch>
            <a:fillRect/>
          </a:stretch>
        </p:blipFill>
        <p:spPr>
          <a:xfrm>
            <a:off x="713578" y="4770858"/>
            <a:ext cx="1415807" cy="389347"/>
          </a:xfrm>
          <a:prstGeom prst="rect">
            <a:avLst/>
          </a:prstGeom>
        </p:spPr>
      </p:pic>
      <p:sp>
        <p:nvSpPr>
          <p:cNvPr id="22" name="Rectangle 76"/>
          <p:cNvSpPr>
            <a:spLocks noChangeArrowheads="1"/>
          </p:cNvSpPr>
          <p:nvPr/>
        </p:nvSpPr>
        <p:spPr bwMode="auto">
          <a:xfrm>
            <a:off x="688532" y="3210061"/>
            <a:ext cx="69078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dirty="0">
                <a:solidFill>
                  <a:srgbClr val="000000"/>
                </a:solidFill>
                <a:latin typeface="华文中宋" panose="02010600040101010101" pitchFamily="2" charset="-122"/>
                <a:ea typeface="华文中宋" panose="02010600040101010101" pitchFamily="2" charset="-122"/>
              </a:rPr>
              <a:t>A</a:t>
            </a:r>
            <a:r>
              <a:rPr lang="zh-CN" altLang="en-US" sz="2400" dirty="0">
                <a:solidFill>
                  <a:srgbClr val="000000"/>
                </a:solidFill>
                <a:latin typeface="华文中宋" panose="02010600040101010101" pitchFamily="2" charset="-122"/>
                <a:ea typeface="华文中宋" panose="02010600040101010101" pitchFamily="2" charset="-122"/>
              </a:rPr>
              <a:t>对加热面积进行边缘修正的修正系数，</a:t>
            </a:r>
            <a:r>
              <a:rPr lang="en-US" altLang="zh-CN" sz="2400" dirty="0">
                <a:solidFill>
                  <a:srgbClr val="000000"/>
                </a:solidFill>
                <a:latin typeface="华文中宋" panose="02010600040101010101" pitchFamily="2" charset="-122"/>
                <a:ea typeface="华文中宋" panose="02010600040101010101" pitchFamily="2" charset="-122"/>
              </a:rPr>
              <a:t>A=0.85</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24" name="Rectangle 76"/>
          <p:cNvSpPr>
            <a:spLocks noChangeArrowheads="1"/>
          </p:cNvSpPr>
          <p:nvPr/>
        </p:nvSpPr>
        <p:spPr bwMode="auto">
          <a:xfrm>
            <a:off x="683568" y="4181711"/>
            <a:ext cx="23042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dirty="0">
                <a:solidFill>
                  <a:srgbClr val="000000"/>
                </a:solidFill>
                <a:latin typeface="华文中宋" panose="02010600040101010101" pitchFamily="2" charset="-122"/>
                <a:ea typeface="华文中宋" panose="02010600040101010101" pitchFamily="2" charset="-122"/>
              </a:rPr>
              <a:t>S</a:t>
            </a:r>
            <a:r>
              <a:rPr lang="zh-CN" altLang="en-US" sz="2400" dirty="0">
                <a:solidFill>
                  <a:srgbClr val="000000"/>
                </a:solidFill>
                <a:latin typeface="华文中宋" panose="02010600040101010101" pitchFamily="2" charset="-122"/>
                <a:ea typeface="华文中宋" panose="02010600040101010101" pitchFamily="2" charset="-122"/>
              </a:rPr>
              <a:t>为样品面积，</a:t>
            </a:r>
          </a:p>
        </p:txBody>
      </p:sp>
      <p:sp>
        <p:nvSpPr>
          <p:cNvPr id="25" name="Rectangle 76"/>
          <p:cNvSpPr>
            <a:spLocks noChangeArrowheads="1"/>
          </p:cNvSpPr>
          <p:nvPr/>
        </p:nvSpPr>
        <p:spPr bwMode="auto">
          <a:xfrm>
            <a:off x="688532" y="3717032"/>
            <a:ext cx="69078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400" dirty="0">
                <a:solidFill>
                  <a:srgbClr val="000000"/>
                </a:solidFill>
                <a:latin typeface="华文中宋" panose="02010600040101010101" pitchFamily="2" charset="-122"/>
                <a:ea typeface="华文中宋" panose="02010600040101010101" pitchFamily="2" charset="-122"/>
              </a:rPr>
              <a:t>V</a:t>
            </a:r>
            <a:r>
              <a:rPr lang="zh-CN" altLang="en-US" sz="2400" dirty="0">
                <a:solidFill>
                  <a:srgbClr val="000000"/>
                </a:solidFill>
                <a:latin typeface="华文中宋" panose="02010600040101010101" pitchFamily="2" charset="-122"/>
                <a:ea typeface="华文中宋" panose="02010600040101010101" pitchFamily="2" charset="-122"/>
              </a:rPr>
              <a:t>为加热电压，</a:t>
            </a:r>
            <a:r>
              <a:rPr lang="en-US" altLang="zh-CN" sz="2400" dirty="0">
                <a:solidFill>
                  <a:srgbClr val="000000"/>
                </a:solidFill>
                <a:latin typeface="华文中宋" panose="02010600040101010101" pitchFamily="2" charset="-122"/>
                <a:ea typeface="华文中宋" panose="02010600040101010101" pitchFamily="2" charset="-122"/>
              </a:rPr>
              <a:t>V=18.00V</a:t>
            </a:r>
            <a:endParaRPr lang="zh-CN" altLang="en-US" sz="2400" dirty="0">
              <a:solidFill>
                <a:srgbClr val="000000"/>
              </a:solidFill>
              <a:latin typeface="华文中宋" panose="02010600040101010101" pitchFamily="2" charset="-122"/>
              <a:ea typeface="华文中宋" panose="02010600040101010101" pitchFamily="2" charset="-122"/>
            </a:endParaRPr>
          </a:p>
        </p:txBody>
      </p:sp>
      <p:sp>
        <p:nvSpPr>
          <p:cNvPr id="26" name="Rectangle 76"/>
          <p:cNvSpPr>
            <a:spLocks noChangeArrowheads="1"/>
          </p:cNvSpPr>
          <p:nvPr/>
        </p:nvSpPr>
        <p:spPr bwMode="auto">
          <a:xfrm>
            <a:off x="2056684" y="4695527"/>
            <a:ext cx="69078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，以样品实际标注为准</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p:nvPr/>
        </p:nvSpPr>
        <p:spPr>
          <a:xfrm>
            <a:off x="323850" y="116394"/>
            <a:ext cx="2480166"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五  数据处理</a:t>
            </a:r>
          </a:p>
        </p:txBody>
      </p:sp>
      <p:sp>
        <p:nvSpPr>
          <p:cNvPr id="8" name="矩形 7"/>
          <p:cNvSpPr/>
          <p:nvPr/>
        </p:nvSpPr>
        <p:spPr>
          <a:xfrm>
            <a:off x="116632" y="951369"/>
            <a:ext cx="7750447" cy="830997"/>
          </a:xfrm>
          <a:prstGeom prst="rect">
            <a:avLst/>
          </a:prstGeom>
        </p:spPr>
        <p:txBody>
          <a:bodyPr wrap="square">
            <a:spAutoFit/>
          </a:bodyPr>
          <a:lstStyle/>
          <a:p>
            <a:pPr marL="227965" marR="0" lvl="0" indent="-151765" algn="just" defTabSz="914400" rtl="0" eaLnBrk="1" fontAlgn="base" latinLnBrk="0" hangingPunct="1">
              <a:lnSpc>
                <a:spcPct val="100000"/>
              </a:lnSpc>
              <a:spcBef>
                <a:spcPct val="0"/>
              </a:spcBef>
              <a:spcAft>
                <a:spcPts val="0"/>
              </a:spcAft>
              <a:buClrTx/>
              <a:buSzTx/>
              <a:buFontTx/>
              <a:buNone/>
              <a:defRPr/>
            </a:pPr>
            <a:r>
              <a:rPr lang="en-US" altLang="zh-CN" sz="2400" b="1" dirty="0">
                <a:solidFill>
                  <a:srgbClr val="006666"/>
                </a:solidFill>
                <a:latin typeface="微软雅黑" panose="020B0503020204020204" pitchFamily="34" charset="-122"/>
                <a:ea typeface="微软雅黑" panose="020B0503020204020204" pitchFamily="34" charset="-122"/>
              </a:rPr>
              <a:t>2</a:t>
            </a:r>
            <a:r>
              <a:rPr lang="zh-CN"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计算稳定后的中心面和加热面的平均电压差值 </a:t>
            </a:r>
            <a:r>
              <a:rPr lang="en-US"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计算导热系数；</a:t>
            </a:r>
            <a:endParaRPr lang="zh-CN" altLang="zh-CN" sz="2400" b="1" dirty="0">
              <a:solidFill>
                <a:srgbClr val="006666"/>
              </a:solidFill>
              <a:latin typeface="微软雅黑" panose="020B0503020204020204" pitchFamily="34" charset="-122"/>
              <a:ea typeface="微软雅黑" panose="020B0503020204020204" pitchFamily="34" charset="-122"/>
            </a:endParaRPr>
          </a:p>
        </p:txBody>
      </p:sp>
      <p:graphicFrame>
        <p:nvGraphicFramePr>
          <p:cNvPr id="20" name="表格 19"/>
          <p:cNvGraphicFramePr>
            <a:graphicFrameLocks noGrp="1"/>
          </p:cNvGraphicFramePr>
          <p:nvPr/>
        </p:nvGraphicFramePr>
        <p:xfrm>
          <a:off x="539552" y="2083778"/>
          <a:ext cx="6096000" cy="3291840"/>
        </p:xfrm>
        <a:graphic>
          <a:graphicData uri="http://schemas.openxmlformats.org/drawingml/2006/table">
            <a:tbl>
              <a:tblPr firstRow="1" bandRow="1">
                <a:tableStyleId>{C4B1156A-380E-4F78-BDF5-A606A8083BF9}</a:tableStyleId>
              </a:tblPr>
              <a:tblGrid>
                <a:gridCol w="554182">
                  <a:extLst>
                    <a:ext uri="{9D8B030D-6E8A-4147-A177-3AD203B41FA5}">
                      <a16:colId xmlns:a16="http://schemas.microsoft.com/office/drawing/2014/main" val="20000"/>
                    </a:ext>
                  </a:extLst>
                </a:gridCol>
                <a:gridCol w="554182">
                  <a:extLst>
                    <a:ext uri="{9D8B030D-6E8A-4147-A177-3AD203B41FA5}">
                      <a16:colId xmlns:a16="http://schemas.microsoft.com/office/drawing/2014/main" val="20001"/>
                    </a:ext>
                  </a:extLst>
                </a:gridCol>
                <a:gridCol w="554181">
                  <a:extLst>
                    <a:ext uri="{9D8B030D-6E8A-4147-A177-3AD203B41FA5}">
                      <a16:colId xmlns:a16="http://schemas.microsoft.com/office/drawing/2014/main" val="20002"/>
                    </a:ext>
                  </a:extLst>
                </a:gridCol>
                <a:gridCol w="554182">
                  <a:extLst>
                    <a:ext uri="{9D8B030D-6E8A-4147-A177-3AD203B41FA5}">
                      <a16:colId xmlns:a16="http://schemas.microsoft.com/office/drawing/2014/main" val="20003"/>
                    </a:ext>
                  </a:extLst>
                </a:gridCol>
                <a:gridCol w="554182">
                  <a:extLst>
                    <a:ext uri="{9D8B030D-6E8A-4147-A177-3AD203B41FA5}">
                      <a16:colId xmlns:a16="http://schemas.microsoft.com/office/drawing/2014/main" val="20004"/>
                    </a:ext>
                  </a:extLst>
                </a:gridCol>
                <a:gridCol w="554182">
                  <a:extLst>
                    <a:ext uri="{9D8B030D-6E8A-4147-A177-3AD203B41FA5}">
                      <a16:colId xmlns:a16="http://schemas.microsoft.com/office/drawing/2014/main" val="20005"/>
                    </a:ext>
                  </a:extLst>
                </a:gridCol>
                <a:gridCol w="554182">
                  <a:extLst>
                    <a:ext uri="{9D8B030D-6E8A-4147-A177-3AD203B41FA5}">
                      <a16:colId xmlns:a16="http://schemas.microsoft.com/office/drawing/2014/main" val="20006"/>
                    </a:ext>
                  </a:extLst>
                </a:gridCol>
                <a:gridCol w="554182">
                  <a:extLst>
                    <a:ext uri="{9D8B030D-6E8A-4147-A177-3AD203B41FA5}">
                      <a16:colId xmlns:a16="http://schemas.microsoft.com/office/drawing/2014/main" val="20007"/>
                    </a:ext>
                  </a:extLst>
                </a:gridCol>
                <a:gridCol w="554181">
                  <a:extLst>
                    <a:ext uri="{9D8B030D-6E8A-4147-A177-3AD203B41FA5}">
                      <a16:colId xmlns:a16="http://schemas.microsoft.com/office/drawing/2014/main" val="20008"/>
                    </a:ext>
                  </a:extLst>
                </a:gridCol>
                <a:gridCol w="554182">
                  <a:extLst>
                    <a:ext uri="{9D8B030D-6E8A-4147-A177-3AD203B41FA5}">
                      <a16:colId xmlns:a16="http://schemas.microsoft.com/office/drawing/2014/main" val="20009"/>
                    </a:ext>
                  </a:extLst>
                </a:gridCol>
                <a:gridCol w="554182">
                  <a:extLst>
                    <a:ext uri="{9D8B030D-6E8A-4147-A177-3AD203B41FA5}">
                      <a16:colId xmlns:a16="http://schemas.microsoft.com/office/drawing/2014/main" val="20010"/>
                    </a:ext>
                  </a:extLst>
                </a:gridCol>
              </a:tblGrid>
              <a:tr h="329636">
                <a:tc>
                  <a:txBody>
                    <a:bodyPr/>
                    <a:lstStyle/>
                    <a:p>
                      <a:r>
                        <a:rPr lang="zh-CN" altLang="en-US" sz="1200" dirty="0"/>
                        <a:t>时间</a:t>
                      </a:r>
                    </a:p>
                  </a:txBody>
                  <a:tcPr/>
                </a:tc>
                <a:tc>
                  <a:txBody>
                    <a:bodyPr/>
                    <a:lstStyle/>
                    <a:p>
                      <a:r>
                        <a:rPr lang="en-US" altLang="zh-CN" dirty="0"/>
                        <a:t>1</a:t>
                      </a:r>
                      <a:endParaRPr lang="zh-CN" altLang="en-US" dirty="0"/>
                    </a:p>
                  </a:txBody>
                  <a:tcPr/>
                </a:tc>
                <a:tc>
                  <a:txBody>
                    <a:bodyPr/>
                    <a:lstStyle/>
                    <a:p>
                      <a:r>
                        <a:rPr lang="en-US" altLang="zh-CN" dirty="0"/>
                        <a:t>2</a:t>
                      </a:r>
                      <a:endParaRPr lang="zh-CN" altLang="en-US" dirty="0"/>
                    </a:p>
                  </a:txBody>
                  <a:tcPr/>
                </a:tc>
                <a:tc>
                  <a:txBody>
                    <a:bodyPr/>
                    <a:lstStyle/>
                    <a:p>
                      <a:r>
                        <a:rPr lang="en-US" altLang="zh-CN" dirty="0"/>
                        <a:t>3</a:t>
                      </a:r>
                      <a:endParaRPr lang="zh-CN" altLang="en-US" dirty="0"/>
                    </a:p>
                  </a:txBody>
                  <a:tcPr/>
                </a:tc>
                <a:tc>
                  <a:txBody>
                    <a:bodyPr/>
                    <a:lstStyle/>
                    <a:p>
                      <a:r>
                        <a:rPr lang="en-US" altLang="zh-CN" dirty="0"/>
                        <a:t>4</a:t>
                      </a:r>
                      <a:endParaRPr lang="zh-CN" altLang="en-US" dirty="0"/>
                    </a:p>
                  </a:txBody>
                  <a:tcPr/>
                </a:tc>
                <a:tc>
                  <a:txBody>
                    <a:bodyPr/>
                    <a:lstStyle/>
                    <a:p>
                      <a:r>
                        <a:rPr lang="en-US" altLang="zh-CN" dirty="0"/>
                        <a:t>5</a:t>
                      </a:r>
                      <a:endParaRPr lang="zh-CN" altLang="en-US" dirty="0"/>
                    </a:p>
                  </a:txBody>
                  <a:tcPr/>
                </a:tc>
                <a:tc>
                  <a:txBody>
                    <a:bodyPr/>
                    <a:lstStyle/>
                    <a:p>
                      <a:r>
                        <a:rPr lang="en-US" altLang="zh-CN" dirty="0"/>
                        <a:t>6</a:t>
                      </a:r>
                      <a:endParaRPr lang="zh-CN" altLang="en-US" dirty="0"/>
                    </a:p>
                  </a:txBody>
                  <a:tcPr/>
                </a:tc>
                <a:tc>
                  <a:txBody>
                    <a:bodyPr/>
                    <a:lstStyle/>
                    <a:p>
                      <a:r>
                        <a:rPr lang="en-US" altLang="zh-CN" dirty="0"/>
                        <a:t>7</a:t>
                      </a:r>
                      <a:endParaRPr lang="zh-CN" altLang="en-US" dirty="0"/>
                    </a:p>
                  </a:txBody>
                  <a:tcPr/>
                </a:tc>
                <a:tc>
                  <a:txBody>
                    <a:bodyPr/>
                    <a:lstStyle/>
                    <a:p>
                      <a:r>
                        <a:rPr lang="en-US" altLang="zh-CN" dirty="0"/>
                        <a:t>8</a:t>
                      </a:r>
                      <a:endParaRPr lang="zh-CN" altLang="en-US" dirty="0"/>
                    </a:p>
                  </a:txBody>
                  <a:tcPr/>
                </a:tc>
                <a:tc>
                  <a:txBody>
                    <a:bodyPr/>
                    <a:lstStyle/>
                    <a:p>
                      <a:r>
                        <a:rPr lang="en-US" altLang="zh-CN" dirty="0"/>
                        <a:t>9</a:t>
                      </a:r>
                      <a:endParaRPr lang="zh-CN" altLang="en-US" dirty="0"/>
                    </a:p>
                  </a:txBody>
                  <a:tcPr/>
                </a:tc>
                <a:tc>
                  <a:txBody>
                    <a:bodyPr/>
                    <a:lstStyle/>
                    <a:p>
                      <a:r>
                        <a:rPr lang="en-US" altLang="zh-CN" dirty="0"/>
                        <a:t>10</a:t>
                      </a:r>
                      <a:endParaRPr lang="zh-CN" altLang="en-US" dirty="0"/>
                    </a:p>
                  </a:txBody>
                  <a:tcPr/>
                </a:tc>
                <a:extLst>
                  <a:ext uri="{0D108BD9-81ED-4DB2-BD59-A6C34878D82A}">
                    <a16:rowId xmlns:a16="http://schemas.microsoft.com/office/drawing/2014/main" val="10000"/>
                  </a:ext>
                </a:extLst>
              </a:tr>
              <a:tr h="329635">
                <a:tc>
                  <a:txBody>
                    <a:bodyPr/>
                    <a:lstStyle/>
                    <a:p>
                      <a:r>
                        <a:rPr lang="zh-CN" altLang="en-US" sz="900" dirty="0"/>
                        <a:t>中心面电势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1"/>
                  </a:ext>
                </a:extLst>
              </a:tr>
              <a:tr h="329636">
                <a:tc>
                  <a:txBody>
                    <a:bodyPr/>
                    <a:lstStyle/>
                    <a:p>
                      <a:r>
                        <a:rPr lang="zh-CN" altLang="en-US" sz="900" dirty="0"/>
                        <a:t>加热面电势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2"/>
                  </a:ext>
                </a:extLst>
              </a:tr>
              <a:tr h="329635">
                <a:tc>
                  <a:txBody>
                    <a:bodyPr/>
                    <a:lstStyle/>
                    <a:p>
                      <a:r>
                        <a:rPr lang="zh-CN" altLang="en-US" sz="1200" dirty="0"/>
                        <a:t>时间</a:t>
                      </a:r>
                    </a:p>
                  </a:txBody>
                  <a:tcPr/>
                </a:tc>
                <a:tc>
                  <a:txBody>
                    <a:bodyPr/>
                    <a:lstStyle/>
                    <a:p>
                      <a:r>
                        <a:rPr lang="en-US" altLang="zh-CN" dirty="0"/>
                        <a:t>11</a:t>
                      </a:r>
                      <a:endParaRPr lang="zh-CN" altLang="en-US" dirty="0"/>
                    </a:p>
                  </a:txBody>
                  <a:tcPr/>
                </a:tc>
                <a:tc>
                  <a:txBody>
                    <a:bodyPr/>
                    <a:lstStyle/>
                    <a:p>
                      <a:r>
                        <a:rPr lang="en-US" altLang="zh-CN" dirty="0"/>
                        <a:t>12</a:t>
                      </a:r>
                      <a:endParaRPr lang="zh-CN" altLang="en-US" dirty="0"/>
                    </a:p>
                  </a:txBody>
                  <a:tcPr/>
                </a:tc>
                <a:tc>
                  <a:txBody>
                    <a:bodyPr/>
                    <a:lstStyle/>
                    <a:p>
                      <a:r>
                        <a:rPr lang="en-US" altLang="zh-CN" dirty="0"/>
                        <a:t>13</a:t>
                      </a:r>
                      <a:endParaRPr lang="zh-CN" altLang="en-US" dirty="0"/>
                    </a:p>
                  </a:txBody>
                  <a:tcPr/>
                </a:tc>
                <a:tc>
                  <a:txBody>
                    <a:bodyPr/>
                    <a:lstStyle/>
                    <a:p>
                      <a:r>
                        <a:rPr lang="en-US" altLang="zh-CN" dirty="0"/>
                        <a:t>14</a:t>
                      </a:r>
                      <a:endParaRPr lang="zh-CN" altLang="en-US" dirty="0"/>
                    </a:p>
                  </a:txBody>
                  <a:tcPr/>
                </a:tc>
                <a:tc>
                  <a:txBody>
                    <a:bodyPr/>
                    <a:lstStyle/>
                    <a:p>
                      <a:r>
                        <a:rPr lang="en-US" altLang="zh-CN" dirty="0"/>
                        <a:t>15</a:t>
                      </a:r>
                      <a:endParaRPr lang="zh-CN" altLang="en-US" dirty="0"/>
                    </a:p>
                  </a:txBody>
                  <a:tcPr/>
                </a:tc>
                <a:tc>
                  <a:txBody>
                    <a:bodyPr/>
                    <a:lstStyle/>
                    <a:p>
                      <a:r>
                        <a:rPr lang="en-US" altLang="zh-CN" dirty="0"/>
                        <a:t>16</a:t>
                      </a:r>
                      <a:endParaRPr lang="zh-CN" altLang="en-US" dirty="0"/>
                    </a:p>
                  </a:txBody>
                  <a:tcPr/>
                </a:tc>
                <a:tc>
                  <a:txBody>
                    <a:bodyPr/>
                    <a:lstStyle/>
                    <a:p>
                      <a:r>
                        <a:rPr lang="en-US" altLang="zh-CN" dirty="0"/>
                        <a:t>17</a:t>
                      </a:r>
                      <a:endParaRPr lang="zh-CN" altLang="en-US" dirty="0"/>
                    </a:p>
                  </a:txBody>
                  <a:tcPr/>
                </a:tc>
                <a:tc>
                  <a:txBody>
                    <a:bodyPr/>
                    <a:lstStyle/>
                    <a:p>
                      <a:r>
                        <a:rPr lang="en-US" altLang="zh-CN" dirty="0"/>
                        <a:t>18</a:t>
                      </a:r>
                      <a:endParaRPr lang="zh-CN" altLang="en-US" dirty="0"/>
                    </a:p>
                  </a:txBody>
                  <a:tcPr/>
                </a:tc>
                <a:tc>
                  <a:txBody>
                    <a:bodyPr/>
                    <a:lstStyle/>
                    <a:p>
                      <a:r>
                        <a:rPr lang="en-US" altLang="zh-CN" dirty="0"/>
                        <a:t>19</a:t>
                      </a:r>
                      <a:endParaRPr lang="zh-CN" altLang="en-US" dirty="0"/>
                    </a:p>
                  </a:txBody>
                  <a:tcPr/>
                </a:tc>
                <a:tc>
                  <a:txBody>
                    <a:bodyPr/>
                    <a:lstStyle/>
                    <a:p>
                      <a:r>
                        <a:rPr lang="en-US" altLang="zh-CN" dirty="0"/>
                        <a:t>20</a:t>
                      </a:r>
                      <a:endParaRPr lang="zh-CN" altLang="en-US" dirty="0"/>
                    </a:p>
                  </a:txBody>
                  <a:tcPr/>
                </a:tc>
                <a:extLst>
                  <a:ext uri="{0D108BD9-81ED-4DB2-BD59-A6C34878D82A}">
                    <a16:rowId xmlns:a16="http://schemas.microsoft.com/office/drawing/2014/main" val="10003"/>
                  </a:ext>
                </a:extLst>
              </a:tr>
              <a:tr h="329636">
                <a:tc>
                  <a:txBody>
                    <a:bodyPr/>
                    <a:lstStyle/>
                    <a:p>
                      <a:r>
                        <a:rPr lang="zh-CN" altLang="en-US" sz="900" dirty="0"/>
                        <a:t>中心面电势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4"/>
                  </a:ext>
                </a:extLst>
              </a:tr>
              <a:tr h="329635">
                <a:tc>
                  <a:txBody>
                    <a:bodyPr/>
                    <a:lstStyle/>
                    <a:p>
                      <a:r>
                        <a:rPr lang="zh-CN" altLang="en-US" sz="900" dirty="0"/>
                        <a:t>加热面电势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5"/>
                  </a:ext>
                </a:extLst>
              </a:tr>
              <a:tr h="329636">
                <a:tc>
                  <a:txBody>
                    <a:bodyPr/>
                    <a:lstStyle/>
                    <a:p>
                      <a:r>
                        <a:rPr lang="zh-CN" altLang="en-US" sz="1200" dirty="0"/>
                        <a:t>时间</a:t>
                      </a:r>
                    </a:p>
                  </a:txBody>
                  <a:tcPr/>
                </a:tc>
                <a:tc>
                  <a:txBody>
                    <a:bodyPr/>
                    <a:lstStyle/>
                    <a:p>
                      <a:r>
                        <a:rPr lang="en-US" altLang="zh-CN" dirty="0"/>
                        <a:t>21</a:t>
                      </a:r>
                      <a:endParaRPr lang="zh-CN" altLang="en-US" dirty="0"/>
                    </a:p>
                  </a:txBody>
                  <a:tcPr/>
                </a:tc>
                <a:tc>
                  <a:txBody>
                    <a:bodyPr/>
                    <a:lstStyle/>
                    <a:p>
                      <a:r>
                        <a:rPr lang="en-US" altLang="zh-CN" dirty="0"/>
                        <a:t>22</a:t>
                      </a:r>
                      <a:endParaRPr lang="zh-CN" altLang="en-US" dirty="0"/>
                    </a:p>
                  </a:txBody>
                  <a:tcPr/>
                </a:tc>
                <a:tc>
                  <a:txBody>
                    <a:bodyPr/>
                    <a:lstStyle/>
                    <a:p>
                      <a:r>
                        <a:rPr lang="en-US" altLang="zh-CN" dirty="0"/>
                        <a:t>23</a:t>
                      </a:r>
                      <a:endParaRPr lang="zh-CN" altLang="en-US" dirty="0"/>
                    </a:p>
                  </a:txBody>
                  <a:tcPr/>
                </a:tc>
                <a:tc>
                  <a:txBody>
                    <a:bodyPr/>
                    <a:lstStyle/>
                    <a:p>
                      <a:r>
                        <a:rPr lang="en-US" altLang="zh-CN" dirty="0"/>
                        <a:t>24</a:t>
                      </a:r>
                      <a:endParaRPr lang="zh-CN" altLang="en-US" dirty="0"/>
                    </a:p>
                  </a:txBody>
                  <a:tcPr/>
                </a:tc>
                <a:tc>
                  <a:txBody>
                    <a:bodyPr/>
                    <a:lstStyle/>
                    <a:p>
                      <a:r>
                        <a:rPr lang="en-US" altLang="zh-CN" dirty="0"/>
                        <a:t>25</a:t>
                      </a:r>
                      <a:endParaRPr lang="zh-CN" altLang="en-US" dirty="0"/>
                    </a:p>
                  </a:txBody>
                  <a:tcPr/>
                </a:tc>
                <a:tc>
                  <a:txBody>
                    <a:bodyPr/>
                    <a:lstStyle/>
                    <a:p>
                      <a:r>
                        <a:rPr lang="en-US" altLang="zh-CN" dirty="0"/>
                        <a:t>26</a:t>
                      </a:r>
                      <a:endParaRPr lang="zh-CN" altLang="en-US" dirty="0"/>
                    </a:p>
                  </a:txBody>
                  <a:tcPr/>
                </a:tc>
                <a:tc>
                  <a:txBody>
                    <a:bodyPr/>
                    <a:lstStyle/>
                    <a:p>
                      <a:r>
                        <a:rPr lang="en-US" altLang="zh-CN" dirty="0"/>
                        <a:t>27</a:t>
                      </a:r>
                      <a:endParaRPr lang="zh-CN" altLang="en-US" dirty="0"/>
                    </a:p>
                  </a:txBody>
                  <a:tcPr/>
                </a:tc>
                <a:tc>
                  <a:txBody>
                    <a:bodyPr/>
                    <a:lstStyle/>
                    <a:p>
                      <a:r>
                        <a:rPr lang="en-US" altLang="zh-CN" dirty="0"/>
                        <a:t>28</a:t>
                      </a:r>
                      <a:endParaRPr lang="zh-CN" altLang="en-US" dirty="0"/>
                    </a:p>
                  </a:txBody>
                  <a:tcPr/>
                </a:tc>
                <a:tc>
                  <a:txBody>
                    <a:bodyPr/>
                    <a:lstStyle/>
                    <a:p>
                      <a:r>
                        <a:rPr lang="en-US" altLang="zh-CN" dirty="0"/>
                        <a:t>29</a:t>
                      </a:r>
                      <a:endParaRPr lang="zh-CN" altLang="en-US" dirty="0"/>
                    </a:p>
                  </a:txBody>
                  <a:tcPr/>
                </a:tc>
                <a:tc>
                  <a:txBody>
                    <a:bodyPr/>
                    <a:lstStyle/>
                    <a:p>
                      <a:r>
                        <a:rPr lang="en-US" altLang="zh-CN" dirty="0"/>
                        <a:t>30</a:t>
                      </a:r>
                      <a:endParaRPr lang="zh-CN" altLang="en-US" dirty="0"/>
                    </a:p>
                  </a:txBody>
                  <a:tcPr/>
                </a:tc>
                <a:extLst>
                  <a:ext uri="{0D108BD9-81ED-4DB2-BD59-A6C34878D82A}">
                    <a16:rowId xmlns:a16="http://schemas.microsoft.com/office/drawing/2014/main" val="10006"/>
                  </a:ext>
                </a:extLst>
              </a:tr>
              <a:tr h="329635">
                <a:tc>
                  <a:txBody>
                    <a:bodyPr/>
                    <a:lstStyle/>
                    <a:p>
                      <a:r>
                        <a:rPr lang="zh-CN" altLang="en-US" sz="900" dirty="0"/>
                        <a:t>中心面电势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7"/>
                  </a:ext>
                </a:extLst>
              </a:tr>
              <a:tr h="329636">
                <a:tc>
                  <a:txBody>
                    <a:bodyPr/>
                    <a:lstStyle/>
                    <a:p>
                      <a:r>
                        <a:rPr lang="zh-CN" altLang="en-US" sz="900" dirty="0"/>
                        <a:t>加热面电势</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008"/>
                  </a:ext>
                </a:extLst>
              </a:tr>
            </a:tbl>
          </a:graphicData>
        </a:graphic>
      </p:graphicFrame>
      <p:pic>
        <p:nvPicPr>
          <p:cNvPr id="6" name="图片 5"/>
          <p:cNvPicPr>
            <a:picLocks noChangeAspect="1"/>
          </p:cNvPicPr>
          <p:nvPr/>
        </p:nvPicPr>
        <p:blipFill>
          <a:blip r:embed="rId2"/>
          <a:stretch>
            <a:fillRect/>
          </a:stretch>
        </p:blipFill>
        <p:spPr>
          <a:xfrm>
            <a:off x="7139110" y="1866034"/>
            <a:ext cx="1455938" cy="1076660"/>
          </a:xfrm>
          <a:prstGeom prst="rect">
            <a:avLst/>
          </a:prstGeom>
        </p:spPr>
      </p:pic>
      <p:sp>
        <p:nvSpPr>
          <p:cNvPr id="7" name="Rectangle 76"/>
          <p:cNvSpPr>
            <a:spLocks noChangeArrowheads="1"/>
          </p:cNvSpPr>
          <p:nvPr/>
        </p:nvSpPr>
        <p:spPr bwMode="auto">
          <a:xfrm>
            <a:off x="7069012" y="2924441"/>
            <a:ext cx="280334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样品厚度：</a:t>
            </a:r>
            <a:r>
              <a:rPr lang="en-US" altLang="zh-CN" sz="2400" dirty="0">
                <a:solidFill>
                  <a:srgbClr val="000000"/>
                </a:solidFill>
                <a:latin typeface="华文中宋" panose="02010600040101010101" pitchFamily="2" charset="-122"/>
                <a:ea typeface="华文中宋" panose="02010600040101010101" pitchFamily="2" charset="-122"/>
              </a:rPr>
              <a:t>R=0.010m</a:t>
            </a:r>
            <a:endParaRPr lang="zh-CN" altLang="en-US" sz="2400" dirty="0">
              <a:solidFill>
                <a:srgbClr val="000000"/>
              </a:solidFill>
              <a:latin typeface="华文中宋" panose="02010600040101010101" pitchFamily="2" charset="-122"/>
              <a:ea typeface="华文中宋" panose="02010600040101010101" pitchFamily="2" charset="-122"/>
            </a:endParaRPr>
          </a:p>
        </p:txBody>
      </p:sp>
      <p:pic>
        <p:nvPicPr>
          <p:cNvPr id="2" name="图片 1"/>
          <p:cNvPicPr>
            <a:picLocks noChangeAspect="1"/>
          </p:cNvPicPr>
          <p:nvPr/>
        </p:nvPicPr>
        <p:blipFill>
          <a:blip r:embed="rId3"/>
          <a:stretch>
            <a:fillRect/>
          </a:stretch>
        </p:blipFill>
        <p:spPr>
          <a:xfrm>
            <a:off x="7124674" y="4575518"/>
            <a:ext cx="1628775" cy="800100"/>
          </a:xfrm>
          <a:prstGeom prst="rect">
            <a:avLst/>
          </a:prstGeom>
        </p:spPr>
      </p:pic>
      <p:sp>
        <p:nvSpPr>
          <p:cNvPr id="9" name="Rectangle 76"/>
          <p:cNvSpPr>
            <a:spLocks noChangeArrowheads="1"/>
          </p:cNvSpPr>
          <p:nvPr/>
        </p:nvSpPr>
        <p:spPr bwMode="auto">
          <a:xfrm>
            <a:off x="7072498" y="3750131"/>
            <a:ext cx="196399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温度与电压的转换：</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p:nvPr/>
        </p:nvSpPr>
        <p:spPr>
          <a:xfrm>
            <a:off x="323850" y="116394"/>
            <a:ext cx="2480166" cy="584775"/>
          </a:xfrm>
          <a:prstGeom prst="rect">
            <a:avLst/>
          </a:prstGeom>
          <a:noFill/>
          <a:ln w="9525">
            <a:noFill/>
          </a:ln>
        </p:spPr>
        <p:txBody>
          <a:bodyPr wrap="none" anchor="ctr">
            <a:spAutoFit/>
          </a:bodyPr>
          <a:lstStyle/>
          <a:p>
            <a:pPr defTabSz="0" eaLnBrk="1" hangingPunct="1">
              <a:tabLst>
                <a:tab pos="266700" algn="l"/>
              </a:tabLst>
            </a:pPr>
            <a:r>
              <a:rPr lang="zh-CN" altLang="en-US" sz="3200" b="1" dirty="0">
                <a:solidFill>
                  <a:srgbClr val="FF0000"/>
                </a:solidFill>
                <a:latin typeface="微软雅黑" panose="020B0503020204020204" pitchFamily="34" charset="-122"/>
                <a:ea typeface="微软雅黑" panose="020B0503020204020204" pitchFamily="34" charset="-122"/>
              </a:rPr>
              <a:t>五  数据处理</a:t>
            </a:r>
          </a:p>
        </p:txBody>
      </p:sp>
      <p:sp>
        <p:nvSpPr>
          <p:cNvPr id="21" name="矩形 20"/>
          <p:cNvSpPr/>
          <p:nvPr/>
        </p:nvSpPr>
        <p:spPr>
          <a:xfrm>
            <a:off x="107504" y="1052736"/>
            <a:ext cx="7750447" cy="460375"/>
          </a:xfrm>
          <a:prstGeom prst="rect">
            <a:avLst/>
          </a:prstGeom>
        </p:spPr>
        <p:txBody>
          <a:bodyPr wrap="square">
            <a:spAutoFit/>
          </a:bodyPr>
          <a:lstStyle/>
          <a:p>
            <a:pPr marL="227965" marR="0" lvl="0" indent="-151765" algn="just" defTabSz="914400" rtl="0" eaLnBrk="1" fontAlgn="base" latinLnBrk="0" hangingPunct="1">
              <a:lnSpc>
                <a:spcPct val="100000"/>
              </a:lnSpc>
              <a:spcBef>
                <a:spcPct val="0"/>
              </a:spcBef>
              <a:spcAft>
                <a:spcPts val="0"/>
              </a:spcAft>
              <a:buClrTx/>
              <a:buSzTx/>
              <a:buFontTx/>
              <a:buNone/>
              <a:defRPr/>
            </a:pPr>
            <a:r>
              <a:rPr lang="en-US" altLang="zh-CN" sz="2400" b="1" dirty="0">
                <a:solidFill>
                  <a:srgbClr val="006666"/>
                </a:solidFill>
                <a:latin typeface="微软雅黑" panose="020B0503020204020204" pitchFamily="34" charset="-122"/>
                <a:ea typeface="微软雅黑" panose="020B0503020204020204" pitchFamily="34" charset="-122"/>
              </a:rPr>
              <a:t>3</a:t>
            </a:r>
            <a:r>
              <a:rPr lang="zh-CN" altLang="zh-CN" sz="2400" b="1" dirty="0">
                <a:solidFill>
                  <a:srgbClr val="006666"/>
                </a:solidFill>
                <a:latin typeface="微软雅黑" panose="020B0503020204020204" pitchFamily="34" charset="-122"/>
                <a:ea typeface="微软雅黑" panose="020B0503020204020204" pitchFamily="34" charset="-122"/>
              </a:rPr>
              <a:t>、</a:t>
            </a:r>
            <a:r>
              <a:rPr lang="zh-CN" altLang="en-US" sz="2400" b="1" dirty="0">
                <a:solidFill>
                  <a:srgbClr val="006666"/>
                </a:solidFill>
                <a:latin typeface="微软雅黑" panose="020B0503020204020204" pitchFamily="34" charset="-122"/>
                <a:ea typeface="微软雅黑" panose="020B0503020204020204" pitchFamily="34" charset="-122"/>
              </a:rPr>
              <a:t>用逐差法或直线拟合计算升温速率，再算出比热容。</a:t>
            </a:r>
            <a:endParaRPr lang="zh-CN" altLang="zh-CN" sz="2400" b="1" dirty="0">
              <a:solidFill>
                <a:srgbClr val="006666"/>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90436" y="1979790"/>
            <a:ext cx="6542857" cy="3409524"/>
          </a:xfrm>
          <a:prstGeom prst="rect">
            <a:avLst/>
          </a:prstGeom>
        </p:spPr>
      </p:pic>
      <p:pic>
        <p:nvPicPr>
          <p:cNvPr id="9" name="图片 8"/>
          <p:cNvPicPr>
            <a:picLocks noChangeAspect="1"/>
          </p:cNvPicPr>
          <p:nvPr/>
        </p:nvPicPr>
        <p:blipFill>
          <a:blip r:embed="rId3"/>
          <a:stretch>
            <a:fillRect/>
          </a:stretch>
        </p:blipFill>
        <p:spPr>
          <a:xfrm>
            <a:off x="6933293" y="1950797"/>
            <a:ext cx="1944217" cy="1516245"/>
          </a:xfrm>
          <a:prstGeom prst="rect">
            <a:avLst/>
          </a:prstGeom>
        </p:spPr>
      </p:pic>
      <p:pic>
        <p:nvPicPr>
          <p:cNvPr id="5" name="图片 4"/>
          <p:cNvPicPr>
            <a:picLocks noChangeAspect="1"/>
          </p:cNvPicPr>
          <p:nvPr/>
        </p:nvPicPr>
        <p:blipFill>
          <a:blip r:embed="rId4"/>
          <a:stretch>
            <a:fillRect/>
          </a:stretch>
        </p:blipFill>
        <p:spPr>
          <a:xfrm>
            <a:off x="6981476" y="4408456"/>
            <a:ext cx="1847850" cy="400050"/>
          </a:xfrm>
          <a:prstGeom prst="rect">
            <a:avLst/>
          </a:prstGeom>
        </p:spPr>
      </p:pic>
      <p:sp>
        <p:nvSpPr>
          <p:cNvPr id="11" name="Rectangle 76"/>
          <p:cNvSpPr>
            <a:spLocks noChangeArrowheads="1"/>
          </p:cNvSpPr>
          <p:nvPr/>
        </p:nvSpPr>
        <p:spPr bwMode="auto">
          <a:xfrm>
            <a:off x="6962587" y="3487939"/>
            <a:ext cx="156985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zh-CN" altLang="en-US" sz="2400" dirty="0">
                <a:solidFill>
                  <a:srgbClr val="000000"/>
                </a:solidFill>
                <a:latin typeface="华文中宋" panose="02010600040101010101" pitchFamily="2" charset="-122"/>
                <a:ea typeface="华文中宋" panose="02010600040101010101" pitchFamily="2" charset="-122"/>
              </a:rPr>
              <a:t>有机玻璃密度：</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https://gimg2.baidu.com/image_search/src=http%3A%2F%2Finews.gtimg.com%2Fnewsapp_bt%2F0%2F5720488848%2F1000&amp;refer=http%3A%2F%2Finews.gtimg.com&amp;app=2002&amp;size=f9999,10000&amp;q=a80&amp;n=0&amp;g=0n&amp;fmt=jpeg?sec=1631868337&amp;t=08ab4c47fd36ea733009c5bb0101258d"/>
          <p:cNvPicPr>
            <a:picLocks noChangeAspect="1" noChangeArrowheads="1"/>
          </p:cNvPicPr>
          <p:nvPr/>
        </p:nvPicPr>
        <p:blipFill rotWithShape="1">
          <a:blip r:embed="rId5">
            <a:extLst>
              <a:ext uri="{28A0092B-C50C-407E-A947-70E740481C1C}">
                <a14:useLocalDpi xmlns:a14="http://schemas.microsoft.com/office/drawing/2010/main" val="0"/>
              </a:ext>
            </a:extLst>
          </a:blip>
          <a:srcRect l="3852" r="6387"/>
          <a:stretch>
            <a:fillRect/>
          </a:stretch>
        </p:blipFill>
        <p:spPr bwMode="auto">
          <a:xfrm>
            <a:off x="-73025" y="-24130"/>
            <a:ext cx="9217025" cy="688149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1"/>
          <p:cNvGrpSpPr/>
          <p:nvPr/>
        </p:nvGrpSpPr>
        <p:grpSpPr>
          <a:xfrm>
            <a:off x="1908175" y="1687513"/>
            <a:ext cx="5873750" cy="2897187"/>
            <a:chOff x="1202" y="1063"/>
            <a:chExt cx="3700" cy="1825"/>
          </a:xfrm>
        </p:grpSpPr>
        <p:sp>
          <p:nvSpPr>
            <p:cNvPr id="12297" name="Text Box 5"/>
            <p:cNvSpPr txBox="1"/>
            <p:nvPr/>
          </p:nvSpPr>
          <p:spPr>
            <a:xfrm>
              <a:off x="1561" y="1063"/>
              <a:ext cx="116" cy="330"/>
            </a:xfrm>
            <a:prstGeom prst="rect">
              <a:avLst/>
            </a:prstGeom>
            <a:noFill/>
            <a:ln w="9525">
              <a:noFill/>
            </a:ln>
          </p:spPr>
          <p:txBody>
            <a:bodyPr wrap="none">
              <a:spAutoFit/>
            </a:bodyPr>
            <a:lstStyle/>
            <a:p>
              <a:endParaRPr lang="zh-CN" altLang="en-US" sz="2800" b="1" dirty="0">
                <a:solidFill>
                  <a:srgbClr val="33CC33"/>
                </a:solidFill>
                <a:latin typeface="华文新魏" panose="02010800040101010101" pitchFamily="2" charset="-122"/>
                <a:ea typeface="华文新魏" panose="02010800040101010101" pitchFamily="2" charset="-122"/>
              </a:endParaRPr>
            </a:p>
          </p:txBody>
        </p:sp>
        <p:sp>
          <p:nvSpPr>
            <p:cNvPr id="12295" name="Text Box 7"/>
            <p:cNvSpPr txBox="1"/>
            <p:nvPr/>
          </p:nvSpPr>
          <p:spPr>
            <a:xfrm>
              <a:off x="1202" y="2523"/>
              <a:ext cx="3700" cy="365"/>
            </a:xfrm>
            <a:prstGeom prst="rect">
              <a:avLst/>
            </a:prstGeom>
            <a:noFill/>
            <a:ln w="9525">
              <a:noFill/>
            </a:ln>
          </p:spPr>
          <p:txBody>
            <a:bodyPr wrap="none">
              <a:spAutoFit/>
            </a:bodyPr>
            <a:lstStyle/>
            <a:p>
              <a:r>
                <a:rPr lang="zh-CN" altLang="en-US" sz="3200" b="1" dirty="0">
                  <a:solidFill>
                    <a:srgbClr val="00CC66"/>
                  </a:solidFill>
                  <a:latin typeface="Times New Roman" panose="02020603050405020304" pitchFamily="18" charset="0"/>
                  <a:ea typeface="华文行楷" panose="02010800040101010101" pitchFamily="2" charset="-122"/>
                </a:rPr>
                <a:t>深圳大学大学物理教学实验中心</a:t>
              </a:r>
            </a:p>
          </p:txBody>
        </p:sp>
      </p:grpSp>
      <p:sp>
        <p:nvSpPr>
          <p:cNvPr id="12292" name="WordArt 9"/>
          <p:cNvSpPr>
            <a:spLocks noTextEdit="1"/>
          </p:cNvSpPr>
          <p:nvPr/>
        </p:nvSpPr>
        <p:spPr>
          <a:xfrm>
            <a:off x="3348038" y="4724400"/>
            <a:ext cx="2895600" cy="1219200"/>
          </a:xfrm>
          <a:prstGeom prst="rect">
            <a:avLst/>
          </a:prstGeom>
        </p:spPr>
        <p:txBody>
          <a:bodyPr wrap="none" fromWordArt="1">
            <a:prstTxWarp prst="textPlain">
              <a:avLst>
                <a:gd name="adj" fmla="val 50000"/>
              </a:avLst>
            </a:prstTxWarp>
            <a:normAutofit/>
            <a:scene3d>
              <a:camera prst="legacyObliqueBottomLeft">
                <a:rot lat="0" lon="0" rev="0"/>
              </a:camera>
              <a:lightRig rig="legacyFlat3" dir="t"/>
            </a:scene3d>
            <a:sp3d extrusionH="430200" prstMaterial="legacyMatte">
              <a:extrusionClr>
                <a:srgbClr val="FF66FF"/>
              </a:extrusionClr>
            </a:sp3d>
          </a:bodyPr>
          <a:lstStyle/>
          <a:p>
            <a:pPr algn="ctr"/>
            <a:r>
              <a:rPr lang="zh-CN" altLang="en-US" sz="5400" dirty="0">
                <a:gradFill rotWithShape="1">
                  <a:gsLst>
                    <a:gs pos="0">
                      <a:srgbClr val="FF66FF"/>
                    </a:gs>
                    <a:gs pos="100000">
                      <a:schemeClr val="hlink"/>
                    </a:gs>
                  </a:gsLst>
                  <a:lin ang="5400000" scaled="1"/>
                  <a:tileRect/>
                </a:gradFill>
                <a:latin typeface="华文行楷" panose="02010800040101010101" pitchFamily="2" charset="-122"/>
                <a:ea typeface="华文行楷" panose="02010800040101010101" pitchFamily="2" charset="-122"/>
              </a:rPr>
              <a:t>谢谢！</a:t>
            </a:r>
          </a:p>
        </p:txBody>
      </p:sp>
      <p:pic>
        <p:nvPicPr>
          <p:cNvPr id="591882" name="006.06. 梦中的婚礼 MARIAGE D' AMOUR.mp3">
            <a:hlinkClick r:id="" action="ppaction://media"/>
          </p:cNvPr>
          <p:cNvPicPr>
            <a:picLocks noRot="1" noChangeAspect="1"/>
          </p:cNvPicPr>
          <p:nvPr>
            <a:audioFile r:link="rId2"/>
            <p:extLst>
              <p:ext uri="{DAA4B4D4-6D71-4841-9C94-3DE7FCFB9230}">
                <p14:media xmlns:p14="http://schemas.microsoft.com/office/powerpoint/2010/main" r:link="rId1"/>
              </p:ext>
            </p:extLst>
          </p:nvPr>
        </p:nvPicPr>
        <p:blipFill>
          <a:blip r:embed="rId6"/>
          <a:stretch>
            <a:fillRect/>
          </a:stretch>
        </p:blipFill>
        <p:spPr>
          <a:xfrm>
            <a:off x="7596188" y="6553200"/>
            <a:ext cx="304800" cy="3048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afterEffect">
                                  <p:stCondLst>
                                    <p:cond delay="0"/>
                                  </p:stCondLst>
                                  <p:childTnLst>
                                    <p:animMotion origin="layout" path="M 0 0  L 0 -0.33333  E" pathEditMode="relative" ptsTypes="">
                                      <p:cBhvr>
                                        <p:cTn id="6" dur="2000" fill="hold"/>
                                        <p:tgtEl>
                                          <p:spTgt spid="2"/>
                                        </p:tgtEl>
                                        <p:attrNameLst>
                                          <p:attrName>ppt_x</p:attrName>
                                          <p:attrName>ppt_y</p:attrName>
                                        </p:attrNameLst>
                                      </p:cBhvr>
                                    </p:animMotion>
                                  </p:childTnLst>
                                </p:cTn>
                              </p:par>
                              <p:par>
                                <p:cTn id="7" presetID="51" presetClass="entr" presetSubtype="0" fill="hold" nodeType="withEffect">
                                  <p:stCondLst>
                                    <p:cond delay="0"/>
                                  </p:stCondLst>
                                  <p:childTnLst>
                                    <p:set>
                                      <p:cBhvr>
                                        <p:cTn id="8" dur="1" fill="hold">
                                          <p:stCondLst>
                                            <p:cond delay="0"/>
                                          </p:stCondLst>
                                        </p:cTn>
                                        <p:tgtEl>
                                          <p:spTgt spid="12292"/>
                                        </p:tgtEl>
                                        <p:attrNameLst>
                                          <p:attrName>style.visibility</p:attrName>
                                        </p:attrNameLst>
                                      </p:cBhvr>
                                      <p:to>
                                        <p:strVal val="visible"/>
                                      </p:to>
                                    </p:set>
                                    <p:animEffect transition="in" filter="fade">
                                      <p:cBhvr>
                                        <p:cTn id="9" dur="770" decel="100000"/>
                                        <p:tgtEl>
                                          <p:spTgt spid="12292"/>
                                        </p:tgtEl>
                                      </p:cBhvr>
                                    </p:animEffect>
                                    <p:animScale>
                                      <p:cBhvr>
                                        <p:cTn id="10" dur="770" decel="100000"/>
                                        <p:tgtEl>
                                          <p:spTgt spid="12292"/>
                                        </p:tgtEl>
                                      </p:cBhvr>
                                      <p:from x="10000" y="10000"/>
                                      <p:to x="200000" y="450000"/>
                                    </p:animScale>
                                    <p:animScale>
                                      <p:cBhvr>
                                        <p:cTn id="11" dur="1230" accel="100000" fill="hold">
                                          <p:stCondLst>
                                            <p:cond delay="770"/>
                                          </p:stCondLst>
                                        </p:cTn>
                                        <p:tgtEl>
                                          <p:spTgt spid="12292"/>
                                        </p:tgtEl>
                                      </p:cBhvr>
                                      <p:from x="200000" y="450000"/>
                                      <p:to x="100000" y="100000"/>
                                    </p:animScale>
                                    <p:set>
                                      <p:cBhvr>
                                        <p:cTn id="12" dur="770" fill="hold"/>
                                        <p:tgtEl>
                                          <p:spTgt spid="12292"/>
                                        </p:tgtEl>
                                        <p:attrNameLst>
                                          <p:attrName>ppt_x</p:attrName>
                                        </p:attrNameLst>
                                      </p:cBhvr>
                                      <p:to>
                                        <p:strVal val="(0.5)"/>
                                      </p:to>
                                    </p:set>
                                    <p:anim from="(0.5)" to="(#ppt_x)" calcmode="lin" valueType="num">
                                      <p:cBhvr>
                                        <p:cTn id="13" dur="1230" accel="100000" fill="hold">
                                          <p:stCondLst>
                                            <p:cond delay="770"/>
                                          </p:stCondLst>
                                        </p:cTn>
                                        <p:tgtEl>
                                          <p:spTgt spid="12292"/>
                                        </p:tgtEl>
                                        <p:attrNameLst>
                                          <p:attrName>ppt_x</p:attrName>
                                        </p:attrNameLst>
                                      </p:cBhvr>
                                    </p:anim>
                                    <p:set>
                                      <p:cBhvr>
                                        <p:cTn id="14" dur="770" fill="hold"/>
                                        <p:tgtEl>
                                          <p:spTgt spid="12292"/>
                                        </p:tgtEl>
                                        <p:attrNameLst>
                                          <p:attrName>ppt_y</p:attrName>
                                        </p:attrNameLst>
                                      </p:cBhvr>
                                      <p:to>
                                        <p:strVal val="(#ppt_y+0.4)"/>
                                      </p:to>
                                    </p:set>
                                    <p:anim from="(#ppt_y+0.4)" to="(#ppt_y)" calcmode="lin" valueType="num">
                                      <p:cBhvr>
                                        <p:cTn id="15" dur="1230" accel="100000" fill="hold">
                                          <p:stCondLst>
                                            <p:cond delay="770"/>
                                          </p:stCondLst>
                                        </p:cTn>
                                        <p:tgtEl>
                                          <p:spTgt spid="12292"/>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audio>
              <p:cMediaNode>
                <p:cTn id="16" fill="hold" display="0">
                  <p:stCondLst>
                    <p:cond delay="indefinite"/>
                  </p:stCondLst>
                  <p:endCondLst>
                    <p:cond evt="onNext" delay="0">
                      <p:tgtEl>
                        <p:sldTgt/>
                      </p:tgtEl>
                    </p:cond>
                    <p:cond evt="onPrev" delay="0">
                      <p:tgtEl>
                        <p:sldTgt/>
                      </p:tgtEl>
                    </p:cond>
                    <p:cond evt="onStopAudio" delay="0">
                      <p:tgtEl>
                        <p:sldTgt/>
                      </p:tgtEl>
                    </p:cond>
                  </p:endCondLst>
                </p:cTn>
                <p:tgtEl>
                  <p:spTgt spid="591882"/>
                </p:tgtEl>
              </p:cMediaNode>
            </p:audio>
          </p:childTnLst>
        </p:cTn>
      </p:par>
    </p:tnLst>
  </p:timing>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1</TotalTime>
  <Words>654</Words>
  <Application>Microsoft Office PowerPoint</Application>
  <PresentationFormat>全屏显示(4:3)</PresentationFormat>
  <Paragraphs>111</Paragraphs>
  <Slides>14</Slides>
  <Notes>8</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14</vt:i4>
      </vt:variant>
    </vt:vector>
  </HeadingPairs>
  <TitlesOfParts>
    <vt:vector size="24" baseType="lpstr">
      <vt:lpstr>华文隶书</vt:lpstr>
      <vt:lpstr>华文新魏</vt:lpstr>
      <vt:lpstr>华文行楷</vt:lpstr>
      <vt:lpstr>华文中宋</vt:lpstr>
      <vt:lpstr>微软雅黑</vt:lpstr>
      <vt:lpstr>Arial</vt:lpstr>
      <vt:lpstr>Calibri</vt:lpstr>
      <vt:lpstr>Times New Roman</vt:lpstr>
      <vt:lpstr>Wingdings</vt:lpstr>
      <vt:lpstr>古瓶荷花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大学物理实验</dc:title>
  <dc:creator>User</dc:creator>
  <cp:lastModifiedBy>鸣天 梁</cp:lastModifiedBy>
  <cp:revision>224</cp:revision>
  <dcterms:created xsi:type="dcterms:W3CDTF">2007-03-01T02:00:00Z</dcterms:created>
  <dcterms:modified xsi:type="dcterms:W3CDTF">2025-03-31T11:29:28Z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3E316CC589AF4AEDB41794DE28D13784</vt:lpwstr>
  </property>
</Properties>
</file>